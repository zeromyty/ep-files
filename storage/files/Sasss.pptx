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4630400" cy="82296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Shape 10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08" name="Shape 10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Calibri"/>
      </a:defRPr>
    </a:lvl1pPr>
    <a:lvl2pPr indent="228600" latinLnBrk="0">
      <a:defRPr sz="1200">
        <a:latin typeface="+mn-lt"/>
        <a:ea typeface="+mn-ea"/>
        <a:cs typeface="+mn-cs"/>
        <a:sym typeface="Calibri"/>
      </a:defRPr>
    </a:lvl2pPr>
    <a:lvl3pPr indent="457200" latinLnBrk="0">
      <a:defRPr sz="1200">
        <a:latin typeface="+mn-lt"/>
        <a:ea typeface="+mn-ea"/>
        <a:cs typeface="+mn-cs"/>
        <a:sym typeface="Calibri"/>
      </a:defRPr>
    </a:lvl3pPr>
    <a:lvl4pPr indent="685800" latinLnBrk="0">
      <a:defRPr sz="1200">
        <a:latin typeface="+mn-lt"/>
        <a:ea typeface="+mn-ea"/>
        <a:cs typeface="+mn-cs"/>
        <a:sym typeface="Calibri"/>
      </a:defRPr>
    </a:lvl4pPr>
    <a:lvl5pPr indent="914400" latinLnBrk="0">
      <a:defRPr sz="1200">
        <a:latin typeface="+mn-lt"/>
        <a:ea typeface="+mn-ea"/>
        <a:cs typeface="+mn-cs"/>
        <a:sym typeface="Calibri"/>
      </a:defRPr>
    </a:lvl5pPr>
    <a:lvl6pPr indent="1143000" latinLnBrk="0">
      <a:defRPr sz="1200">
        <a:latin typeface="+mn-lt"/>
        <a:ea typeface="+mn-ea"/>
        <a:cs typeface="+mn-cs"/>
        <a:sym typeface="Calibri"/>
      </a:defRPr>
    </a:lvl6pPr>
    <a:lvl7pPr indent="1371600" latinLnBrk="0">
      <a:defRPr sz="1200">
        <a:latin typeface="+mn-lt"/>
        <a:ea typeface="+mn-ea"/>
        <a:cs typeface="+mn-cs"/>
        <a:sym typeface="Calibri"/>
      </a:defRPr>
    </a:lvl7pPr>
    <a:lvl8pPr indent="1600200" latinLnBrk="0">
      <a:defRPr sz="1200">
        <a:latin typeface="+mn-lt"/>
        <a:ea typeface="+mn-ea"/>
        <a:cs typeface="+mn-cs"/>
        <a:sym typeface="Calibri"/>
      </a:defRPr>
    </a:lvl8pPr>
    <a:lvl9pPr indent="18288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lide 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9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lide 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8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lide 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7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lide 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6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lide 5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5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lide 6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4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lide 7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lide 8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2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lide 9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91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9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lide 10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00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0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731519" y="110489"/>
            <a:ext cx="13167362" cy="18097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731519" y="1920239"/>
            <a:ext cx="13167362" cy="63093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7071359" y="7408544"/>
            <a:ext cx="3413761" cy="43815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3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8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  <a:ln w="12700">
            <a:miter lim="400000"/>
          </a:ln>
        </p:spPr>
      </p:pic>
      <p:sp>
        <p:nvSpPr>
          <p:cNvPr id="111" name="Text 0"/>
          <p:cNvSpPr txBox="1"/>
          <p:nvPr/>
        </p:nvSpPr>
        <p:spPr>
          <a:xfrm>
            <a:off x="6280189" y="2365533"/>
            <a:ext cx="7556422" cy="13858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5500"/>
              </a:lnSpc>
              <a:defRPr sz="4400">
                <a:solidFill>
                  <a:srgbClr val="484237"/>
                </a:solidFill>
                <a:latin typeface="Gelasio Semi Bold"/>
                <a:ea typeface="Gelasio Semi Bold"/>
                <a:cs typeface="Gelasio Semi Bold"/>
                <a:sym typeface="Gelasio Semi Bold"/>
              </a:defRPr>
            </a:lvl1pPr>
          </a:lstStyle>
          <a:p>
            <a:pPr/>
            <a:r>
              <a:t>Мир Wi-Fi: Путешествие от проводов до роутера</a:t>
            </a:r>
          </a:p>
        </p:txBody>
      </p:sp>
      <p:sp>
        <p:nvSpPr>
          <p:cNvPr id="112" name="Text 1"/>
          <p:cNvSpPr txBox="1"/>
          <p:nvPr/>
        </p:nvSpPr>
        <p:spPr>
          <a:xfrm>
            <a:off x="6280189" y="4123252"/>
            <a:ext cx="7556422" cy="10453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800"/>
              </a:lnSpc>
              <a:defRPr sz="1700">
                <a:solidFill>
                  <a:srgbClr val="746558"/>
                </a:solidFill>
                <a:latin typeface="Gelasio"/>
                <a:ea typeface="Gelasio"/>
                <a:cs typeface="Gelasio"/>
                <a:sym typeface="Gelasio"/>
              </a:defRPr>
            </a:lvl1pPr>
          </a:lstStyle>
          <a:p>
            <a:pPr/>
            <a:r>
              <a:t>В этом докладе мы рассмотрим историю развития Wi-Fi, его принципы работы, основные компоненты, преимущества, недостатки и тенденции развития.</a:t>
            </a:r>
          </a:p>
        </p:txBody>
      </p:sp>
      <p:sp>
        <p:nvSpPr>
          <p:cNvPr id="113" name="Shape 2"/>
          <p:cNvSpPr/>
          <p:nvPr/>
        </p:nvSpPr>
        <p:spPr>
          <a:xfrm>
            <a:off x="6280189" y="5484019"/>
            <a:ext cx="362904" cy="362904"/>
          </a:xfrm>
          <a:prstGeom prst="roundRect">
            <a:avLst>
              <a:gd name="adj" fmla="val 50000"/>
            </a:avLst>
          </a:prstGeom>
          <a:ln w="7620">
            <a:solidFill>
              <a:srgbClr val="FFFFFF"/>
            </a:solidFill>
          </a:ln>
        </p:spPr>
        <p:txBody>
          <a:bodyPr lIns="45719" rIns="45719"/>
          <a:lstStyle/>
          <a:p>
            <a:pPr/>
          </a:p>
        </p:txBody>
      </p:sp>
      <p:pic>
        <p:nvPicPr>
          <p:cNvPr id="114" name="Image 1" descr="Image 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598273" y="266890"/>
            <a:ext cx="1726738" cy="172673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4630400" cy="2428994"/>
          </a:xfrm>
          <a:prstGeom prst="rect">
            <a:avLst/>
          </a:prstGeom>
          <a:ln w="12700">
            <a:miter lim="400000"/>
          </a:ln>
        </p:spPr>
      </p:pic>
      <p:sp>
        <p:nvSpPr>
          <p:cNvPr id="117" name="Text 0"/>
          <p:cNvSpPr txBox="1"/>
          <p:nvPr/>
        </p:nvSpPr>
        <p:spPr>
          <a:xfrm>
            <a:off x="680085" y="2963584"/>
            <a:ext cx="7410761" cy="5885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4700"/>
              </a:lnSpc>
              <a:defRPr sz="3800">
                <a:solidFill>
                  <a:srgbClr val="484237"/>
                </a:solidFill>
                <a:latin typeface="Gelasio Semi Bold"/>
                <a:ea typeface="Gelasio Semi Bold"/>
                <a:cs typeface="Gelasio Semi Bold"/>
                <a:sym typeface="Gelasio Semi Bold"/>
              </a:defRPr>
            </a:lvl1pPr>
          </a:lstStyle>
          <a:p>
            <a:pPr/>
            <a:r>
              <a:t>Краткая история развития Wi-Fi</a:t>
            </a:r>
          </a:p>
        </p:txBody>
      </p:sp>
      <p:sp>
        <p:nvSpPr>
          <p:cNvPr id="118" name="Shape 1"/>
          <p:cNvSpPr/>
          <p:nvPr/>
        </p:nvSpPr>
        <p:spPr>
          <a:xfrm>
            <a:off x="680084" y="5778579"/>
            <a:ext cx="13270232" cy="22861"/>
          </a:xfrm>
          <a:prstGeom prst="roundRect">
            <a:avLst>
              <a:gd name="adj" fmla="val 50000"/>
            </a:avLst>
          </a:prstGeom>
          <a:solidFill>
            <a:srgbClr val="D4CEC3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19" name="Shape 2"/>
          <p:cNvSpPr/>
          <p:nvPr/>
        </p:nvSpPr>
        <p:spPr>
          <a:xfrm>
            <a:off x="3264337" y="5098493"/>
            <a:ext cx="22861" cy="680086"/>
          </a:xfrm>
          <a:prstGeom prst="roundRect">
            <a:avLst>
              <a:gd name="adj" fmla="val 50000"/>
            </a:avLst>
          </a:prstGeom>
          <a:solidFill>
            <a:srgbClr val="D4CEC3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20" name="Shape 3"/>
          <p:cNvSpPr/>
          <p:nvPr/>
        </p:nvSpPr>
        <p:spPr>
          <a:xfrm>
            <a:off x="3057168" y="5559981"/>
            <a:ext cx="437199" cy="437199"/>
          </a:xfrm>
          <a:prstGeom prst="roundRect">
            <a:avLst>
              <a:gd name="adj" fmla="val 6667"/>
            </a:avLst>
          </a:prstGeom>
          <a:solidFill>
            <a:srgbClr val="EEE8DD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21" name="Text 4"/>
          <p:cNvSpPr txBox="1"/>
          <p:nvPr/>
        </p:nvSpPr>
        <p:spPr>
          <a:xfrm>
            <a:off x="3191662" y="5632846"/>
            <a:ext cx="168090" cy="2877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lnSpc>
                <a:spcPts val="2200"/>
              </a:lnSpc>
              <a:defRPr sz="2200">
                <a:solidFill>
                  <a:srgbClr val="746558"/>
                </a:solidFill>
                <a:latin typeface="Gelasio Semi Bold"/>
                <a:ea typeface="Gelasio Semi Bold"/>
                <a:cs typeface="Gelasio Semi Bold"/>
                <a:sym typeface="Gelasio Semi Bold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122" name="Text 5"/>
          <p:cNvSpPr txBox="1"/>
          <p:nvPr/>
        </p:nvSpPr>
        <p:spPr>
          <a:xfrm>
            <a:off x="3001076" y="3862268"/>
            <a:ext cx="549500" cy="2891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lnSpc>
                <a:spcPts val="2300"/>
              </a:lnSpc>
              <a:defRPr sz="1900">
                <a:solidFill>
                  <a:srgbClr val="746558"/>
                </a:solidFill>
                <a:latin typeface="Gelasio Semi Bold"/>
                <a:ea typeface="Gelasio Semi Bold"/>
                <a:cs typeface="Gelasio Semi Bold"/>
                <a:sym typeface="Gelasio Semi Bold"/>
              </a:defRPr>
            </a:lvl1pPr>
          </a:lstStyle>
          <a:p>
            <a:pPr/>
            <a:r>
              <a:t>1971</a:t>
            </a:r>
          </a:p>
        </p:txBody>
      </p:sp>
      <p:sp>
        <p:nvSpPr>
          <p:cNvPr id="123" name="Text 6"/>
          <p:cNvSpPr txBox="1"/>
          <p:nvPr/>
        </p:nvSpPr>
        <p:spPr>
          <a:xfrm>
            <a:off x="874395" y="4282440"/>
            <a:ext cx="4802862" cy="5924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2400"/>
              </a:lnSpc>
              <a:defRPr sz="1500">
                <a:solidFill>
                  <a:srgbClr val="746558"/>
                </a:solidFill>
                <a:latin typeface="Gelasio"/>
                <a:ea typeface="Gelasio"/>
                <a:cs typeface="Gelasio"/>
                <a:sym typeface="Gelasio"/>
              </a:defRPr>
            </a:lvl1pPr>
          </a:lstStyle>
          <a:p>
            <a:pPr/>
            <a:r>
              <a:t>Первые исследования по передаче данных без проводов.</a:t>
            </a:r>
          </a:p>
        </p:txBody>
      </p:sp>
      <p:sp>
        <p:nvSpPr>
          <p:cNvPr id="124" name="Shape 7"/>
          <p:cNvSpPr/>
          <p:nvPr/>
        </p:nvSpPr>
        <p:spPr>
          <a:xfrm>
            <a:off x="5957172" y="5778579"/>
            <a:ext cx="22861" cy="680086"/>
          </a:xfrm>
          <a:prstGeom prst="roundRect">
            <a:avLst>
              <a:gd name="adj" fmla="val 50000"/>
            </a:avLst>
          </a:prstGeom>
          <a:solidFill>
            <a:srgbClr val="D4CEC3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25" name="Shape 8"/>
          <p:cNvSpPr/>
          <p:nvPr/>
        </p:nvSpPr>
        <p:spPr>
          <a:xfrm>
            <a:off x="5750004" y="5559981"/>
            <a:ext cx="437199" cy="437199"/>
          </a:xfrm>
          <a:prstGeom prst="roundRect">
            <a:avLst>
              <a:gd name="adj" fmla="val 6667"/>
            </a:avLst>
          </a:prstGeom>
          <a:solidFill>
            <a:srgbClr val="EEE8DD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26" name="Text 9"/>
          <p:cNvSpPr txBox="1"/>
          <p:nvPr/>
        </p:nvSpPr>
        <p:spPr>
          <a:xfrm>
            <a:off x="5884559" y="5632846"/>
            <a:ext cx="168089" cy="2877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lnSpc>
                <a:spcPts val="2200"/>
              </a:lnSpc>
              <a:defRPr sz="2200">
                <a:solidFill>
                  <a:srgbClr val="746558"/>
                </a:solidFill>
                <a:latin typeface="Gelasio Semi Bold"/>
                <a:ea typeface="Gelasio Semi Bold"/>
                <a:cs typeface="Gelasio Semi Bold"/>
                <a:sym typeface="Gelasio Semi Bold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127" name="Text 10"/>
          <p:cNvSpPr txBox="1"/>
          <p:nvPr/>
        </p:nvSpPr>
        <p:spPr>
          <a:xfrm>
            <a:off x="5693914" y="6652973"/>
            <a:ext cx="549499" cy="2891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lnSpc>
                <a:spcPts val="2300"/>
              </a:lnSpc>
              <a:defRPr sz="1900">
                <a:solidFill>
                  <a:srgbClr val="746558"/>
                </a:solidFill>
                <a:latin typeface="Gelasio Semi Bold"/>
                <a:ea typeface="Gelasio Semi Bold"/>
                <a:cs typeface="Gelasio Semi Bold"/>
                <a:sym typeface="Gelasio Semi Bold"/>
              </a:defRPr>
            </a:lvl1pPr>
          </a:lstStyle>
          <a:p>
            <a:pPr/>
            <a:r>
              <a:t>1991</a:t>
            </a:r>
          </a:p>
        </p:txBody>
      </p:sp>
      <p:sp>
        <p:nvSpPr>
          <p:cNvPr id="128" name="Text 11"/>
          <p:cNvSpPr txBox="1"/>
          <p:nvPr/>
        </p:nvSpPr>
        <p:spPr>
          <a:xfrm>
            <a:off x="4355759" y="7073145"/>
            <a:ext cx="3225807" cy="2876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lnSpc>
                <a:spcPts val="2400"/>
              </a:lnSpc>
              <a:defRPr sz="1500">
                <a:solidFill>
                  <a:srgbClr val="746558"/>
                </a:solidFill>
                <a:latin typeface="Gelasio"/>
                <a:ea typeface="Gelasio"/>
                <a:cs typeface="Gelasio"/>
                <a:sym typeface="Gelasio"/>
              </a:defRPr>
            </a:lvl1pPr>
          </a:lstStyle>
          <a:p>
            <a:pPr/>
            <a:r>
              <a:t>Разработка стандарта Wi-Fi 802.11.</a:t>
            </a:r>
          </a:p>
        </p:txBody>
      </p:sp>
      <p:sp>
        <p:nvSpPr>
          <p:cNvPr id="129" name="Shape 12"/>
          <p:cNvSpPr/>
          <p:nvPr/>
        </p:nvSpPr>
        <p:spPr>
          <a:xfrm>
            <a:off x="8650129" y="5098493"/>
            <a:ext cx="22861" cy="680086"/>
          </a:xfrm>
          <a:prstGeom prst="roundRect">
            <a:avLst>
              <a:gd name="adj" fmla="val 50000"/>
            </a:avLst>
          </a:prstGeom>
          <a:solidFill>
            <a:srgbClr val="D4CEC3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30" name="Shape 13"/>
          <p:cNvSpPr/>
          <p:nvPr/>
        </p:nvSpPr>
        <p:spPr>
          <a:xfrm>
            <a:off x="8442959" y="5559981"/>
            <a:ext cx="437199" cy="437199"/>
          </a:xfrm>
          <a:prstGeom prst="roundRect">
            <a:avLst>
              <a:gd name="adj" fmla="val 6667"/>
            </a:avLst>
          </a:prstGeom>
          <a:solidFill>
            <a:srgbClr val="EEE8DD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31" name="Text 14"/>
          <p:cNvSpPr txBox="1"/>
          <p:nvPr/>
        </p:nvSpPr>
        <p:spPr>
          <a:xfrm>
            <a:off x="8577514" y="5632846"/>
            <a:ext cx="168090" cy="2877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lnSpc>
                <a:spcPts val="2200"/>
              </a:lnSpc>
              <a:defRPr sz="2200">
                <a:solidFill>
                  <a:srgbClr val="746558"/>
                </a:solidFill>
                <a:latin typeface="Gelasio Semi Bold"/>
                <a:ea typeface="Gelasio Semi Bold"/>
                <a:cs typeface="Gelasio Semi Bold"/>
                <a:sym typeface="Gelasio Semi Bold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132" name="Text 15"/>
          <p:cNvSpPr txBox="1"/>
          <p:nvPr/>
        </p:nvSpPr>
        <p:spPr>
          <a:xfrm>
            <a:off x="8386868" y="3862268"/>
            <a:ext cx="549499" cy="2891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lnSpc>
                <a:spcPts val="2300"/>
              </a:lnSpc>
              <a:defRPr sz="1900">
                <a:solidFill>
                  <a:srgbClr val="746558"/>
                </a:solidFill>
                <a:latin typeface="Gelasio Semi Bold"/>
                <a:ea typeface="Gelasio Semi Bold"/>
                <a:cs typeface="Gelasio Semi Bold"/>
                <a:sym typeface="Gelasio Semi Bold"/>
              </a:defRPr>
            </a:lvl1pPr>
          </a:lstStyle>
          <a:p>
            <a:pPr/>
            <a:r>
              <a:t>1997</a:t>
            </a:r>
          </a:p>
        </p:txBody>
      </p:sp>
      <p:sp>
        <p:nvSpPr>
          <p:cNvPr id="133" name="Text 16"/>
          <p:cNvSpPr txBox="1"/>
          <p:nvPr/>
        </p:nvSpPr>
        <p:spPr>
          <a:xfrm>
            <a:off x="6260186" y="4282440"/>
            <a:ext cx="4802863" cy="2876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2400"/>
              </a:lnSpc>
              <a:defRPr sz="1500">
                <a:solidFill>
                  <a:srgbClr val="746558"/>
                </a:solidFill>
                <a:latin typeface="Gelasio"/>
                <a:ea typeface="Gelasio"/>
                <a:cs typeface="Gelasio"/>
                <a:sym typeface="Gelasio"/>
              </a:defRPr>
            </a:lvl1pPr>
          </a:lstStyle>
          <a:p>
            <a:pPr/>
            <a:r>
              <a:t>Появление первого коммерческого продукта с Wi-Fi.</a:t>
            </a:r>
          </a:p>
        </p:txBody>
      </p:sp>
      <p:sp>
        <p:nvSpPr>
          <p:cNvPr id="134" name="Shape 17"/>
          <p:cNvSpPr/>
          <p:nvPr/>
        </p:nvSpPr>
        <p:spPr>
          <a:xfrm>
            <a:off x="11342965" y="5778579"/>
            <a:ext cx="22861" cy="680086"/>
          </a:xfrm>
          <a:prstGeom prst="roundRect">
            <a:avLst>
              <a:gd name="adj" fmla="val 50000"/>
            </a:avLst>
          </a:prstGeom>
          <a:solidFill>
            <a:srgbClr val="D4CEC3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35" name="Shape 18"/>
          <p:cNvSpPr/>
          <p:nvPr/>
        </p:nvSpPr>
        <p:spPr>
          <a:xfrm>
            <a:off x="11135797" y="5559981"/>
            <a:ext cx="437199" cy="437199"/>
          </a:xfrm>
          <a:prstGeom prst="roundRect">
            <a:avLst>
              <a:gd name="adj" fmla="val 6667"/>
            </a:avLst>
          </a:prstGeom>
          <a:solidFill>
            <a:srgbClr val="EEE8DD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36" name="Text 19"/>
          <p:cNvSpPr txBox="1"/>
          <p:nvPr/>
        </p:nvSpPr>
        <p:spPr>
          <a:xfrm>
            <a:off x="11270291" y="5632846"/>
            <a:ext cx="168090" cy="2877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lnSpc>
                <a:spcPts val="2200"/>
              </a:lnSpc>
              <a:defRPr sz="2200">
                <a:solidFill>
                  <a:srgbClr val="746558"/>
                </a:solidFill>
                <a:latin typeface="Gelasio Semi Bold"/>
                <a:ea typeface="Gelasio Semi Bold"/>
                <a:cs typeface="Gelasio Semi Bold"/>
                <a:sym typeface="Gelasio Semi Bold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137" name="Text 20"/>
          <p:cNvSpPr txBox="1"/>
          <p:nvPr/>
        </p:nvSpPr>
        <p:spPr>
          <a:xfrm>
            <a:off x="10972428" y="6652973"/>
            <a:ext cx="764054" cy="2891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lnSpc>
                <a:spcPts val="2300"/>
              </a:lnSpc>
              <a:defRPr sz="1900">
                <a:solidFill>
                  <a:srgbClr val="746558"/>
                </a:solidFill>
                <a:latin typeface="Gelasio Semi Bold"/>
                <a:ea typeface="Gelasio Semi Bold"/>
                <a:cs typeface="Gelasio Semi Bold"/>
                <a:sym typeface="Gelasio Semi Bold"/>
              </a:defRPr>
            </a:lvl1pPr>
          </a:lstStyle>
          <a:p>
            <a:pPr/>
            <a:r>
              <a:t>2000-е</a:t>
            </a:r>
          </a:p>
        </p:txBody>
      </p:sp>
      <p:sp>
        <p:nvSpPr>
          <p:cNvPr id="138" name="Text 21"/>
          <p:cNvSpPr txBox="1"/>
          <p:nvPr/>
        </p:nvSpPr>
        <p:spPr>
          <a:xfrm>
            <a:off x="8953024" y="7073145"/>
            <a:ext cx="4802862" cy="5924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2400"/>
              </a:lnSpc>
              <a:defRPr sz="1500">
                <a:solidFill>
                  <a:srgbClr val="746558"/>
                </a:solidFill>
                <a:latin typeface="Gelasio"/>
                <a:ea typeface="Gelasio"/>
                <a:cs typeface="Gelasio"/>
                <a:sym typeface="Gelasio"/>
              </a:defRPr>
            </a:lvl1pPr>
          </a:lstStyle>
          <a:p>
            <a:pPr/>
            <a:r>
              <a:t>Широкое распространение Wi-Fi в домашних и офисных сетях.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Text 0"/>
          <p:cNvSpPr txBox="1"/>
          <p:nvPr/>
        </p:nvSpPr>
        <p:spPr>
          <a:xfrm>
            <a:off x="793789" y="2539960"/>
            <a:ext cx="8870009" cy="6873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5500"/>
              </a:lnSpc>
              <a:defRPr sz="4400">
                <a:solidFill>
                  <a:srgbClr val="484237"/>
                </a:solidFill>
                <a:latin typeface="Gelasio Semi Bold"/>
                <a:ea typeface="Gelasio Semi Bold"/>
                <a:cs typeface="Gelasio Semi Bold"/>
                <a:sym typeface="Gelasio Semi Bold"/>
              </a:defRPr>
            </a:lvl1pPr>
          </a:lstStyle>
          <a:p>
            <a:pPr/>
            <a:r>
              <a:t>Основные компоненты сети Wi-Fi</a:t>
            </a:r>
          </a:p>
        </p:txBody>
      </p:sp>
      <p:sp>
        <p:nvSpPr>
          <p:cNvPr id="141" name="Text 1"/>
          <p:cNvSpPr txBox="1"/>
          <p:nvPr/>
        </p:nvSpPr>
        <p:spPr>
          <a:xfrm>
            <a:off x="793789" y="3815715"/>
            <a:ext cx="3142582" cy="3385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700"/>
              </a:lnSpc>
              <a:defRPr sz="2200">
                <a:solidFill>
                  <a:srgbClr val="484237"/>
                </a:solidFill>
                <a:latin typeface="Gelasio Semi Bold"/>
                <a:ea typeface="Gelasio Semi Bold"/>
                <a:cs typeface="Gelasio Semi Bold"/>
                <a:sym typeface="Gelasio Semi Bold"/>
              </a:defRPr>
            </a:lvl1pPr>
          </a:lstStyle>
          <a:p>
            <a:pPr/>
            <a:r>
              <a:t>Клиентские устройства</a:t>
            </a:r>
          </a:p>
        </p:txBody>
      </p:sp>
      <p:sp>
        <p:nvSpPr>
          <p:cNvPr id="142" name="Text 2"/>
          <p:cNvSpPr txBox="1"/>
          <p:nvPr/>
        </p:nvSpPr>
        <p:spPr>
          <a:xfrm>
            <a:off x="793789" y="4396859"/>
            <a:ext cx="3978118" cy="10453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800"/>
              </a:lnSpc>
              <a:defRPr sz="1700">
                <a:solidFill>
                  <a:srgbClr val="746558"/>
                </a:solidFill>
                <a:latin typeface="Gelasio"/>
                <a:ea typeface="Gelasio"/>
                <a:cs typeface="Gelasio"/>
                <a:sym typeface="Gelasio"/>
              </a:defRPr>
            </a:lvl1pPr>
          </a:lstStyle>
          <a:p>
            <a:pPr/>
            <a:r>
              <a:t>Это могут быть смартфоны, планшеты, ноутбуки, компьютеры, принтеры, телевизоры и т. д.</a:t>
            </a:r>
          </a:p>
        </p:txBody>
      </p:sp>
      <p:sp>
        <p:nvSpPr>
          <p:cNvPr id="143" name="Text 3"/>
          <p:cNvSpPr txBox="1"/>
          <p:nvPr/>
        </p:nvSpPr>
        <p:spPr>
          <a:xfrm>
            <a:off x="5332927" y="3815715"/>
            <a:ext cx="3094423" cy="3385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700"/>
              </a:lnSpc>
              <a:defRPr sz="2200">
                <a:solidFill>
                  <a:srgbClr val="484237"/>
                </a:solidFill>
                <a:latin typeface="Gelasio Semi Bold"/>
                <a:ea typeface="Gelasio Semi Bold"/>
                <a:cs typeface="Gelasio Semi Bold"/>
                <a:sym typeface="Gelasio Semi Bold"/>
              </a:defRPr>
            </a:lvl1pPr>
          </a:lstStyle>
          <a:p>
            <a:pPr/>
            <a:r>
              <a:t>Точка доступа (роутер)</a:t>
            </a:r>
          </a:p>
        </p:txBody>
      </p:sp>
      <p:sp>
        <p:nvSpPr>
          <p:cNvPr id="144" name="Text 4"/>
          <p:cNvSpPr txBox="1"/>
          <p:nvPr/>
        </p:nvSpPr>
        <p:spPr>
          <a:xfrm>
            <a:off x="5332927" y="4396859"/>
            <a:ext cx="3978118" cy="10453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800"/>
              </a:lnSpc>
              <a:defRPr sz="1700">
                <a:solidFill>
                  <a:srgbClr val="746558"/>
                </a:solidFill>
                <a:latin typeface="Gelasio"/>
                <a:ea typeface="Gelasio"/>
                <a:cs typeface="Gelasio"/>
                <a:sym typeface="Gelasio"/>
              </a:defRPr>
            </a:lvl1pPr>
          </a:lstStyle>
          <a:p>
            <a:pPr/>
            <a:r>
              <a:t>Это устройство, которое связывает проводную сеть с беспроводной, распространяя Wi-Fi сигнал.</a:t>
            </a:r>
          </a:p>
        </p:txBody>
      </p:sp>
      <p:sp>
        <p:nvSpPr>
          <p:cNvPr id="145" name="Text 5"/>
          <p:cNvSpPr txBox="1"/>
          <p:nvPr/>
        </p:nvSpPr>
        <p:spPr>
          <a:xfrm>
            <a:off x="9872067" y="3815715"/>
            <a:ext cx="2555404" cy="3385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700"/>
              </a:lnSpc>
              <a:defRPr sz="2200">
                <a:solidFill>
                  <a:srgbClr val="484237"/>
                </a:solidFill>
                <a:latin typeface="Gelasio Semi Bold"/>
                <a:ea typeface="Gelasio Semi Bold"/>
                <a:cs typeface="Gelasio Semi Bold"/>
                <a:sym typeface="Gelasio Semi Bold"/>
              </a:defRPr>
            </a:lvl1pPr>
          </a:lstStyle>
          <a:p>
            <a:pPr/>
            <a:r>
              <a:t>Беспроводная сеть</a:t>
            </a:r>
          </a:p>
        </p:txBody>
      </p:sp>
      <p:sp>
        <p:nvSpPr>
          <p:cNvPr id="146" name="Text 6"/>
          <p:cNvSpPr txBox="1"/>
          <p:nvPr/>
        </p:nvSpPr>
        <p:spPr>
          <a:xfrm>
            <a:off x="9872067" y="4396859"/>
            <a:ext cx="3978117" cy="10453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800"/>
              </a:lnSpc>
              <a:defRPr sz="1700">
                <a:solidFill>
                  <a:srgbClr val="746558"/>
                </a:solidFill>
                <a:latin typeface="Gelasio"/>
                <a:ea typeface="Gelasio"/>
                <a:cs typeface="Gelasio"/>
                <a:sym typeface="Gelasio"/>
              </a:defRPr>
            </a:lvl1pPr>
          </a:lstStyle>
          <a:p>
            <a:pPr/>
            <a:r>
              <a:t>Это среда, в которой происходит передача данных между устройствами по радиоволнам.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Text 0"/>
          <p:cNvSpPr txBox="1"/>
          <p:nvPr/>
        </p:nvSpPr>
        <p:spPr>
          <a:xfrm>
            <a:off x="734973" y="1078230"/>
            <a:ext cx="9078677" cy="6379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5100"/>
              </a:lnSpc>
              <a:defRPr sz="4100">
                <a:solidFill>
                  <a:srgbClr val="484237"/>
                </a:solidFill>
                <a:latin typeface="Gelasio Semi Bold"/>
                <a:ea typeface="Gelasio Semi Bold"/>
                <a:cs typeface="Gelasio Semi Bold"/>
                <a:sym typeface="Gelasio Semi Bold"/>
              </a:defRPr>
            </a:lvl1pPr>
          </a:lstStyle>
          <a:p>
            <a:pPr/>
            <a:r>
              <a:t>Принципы передачи данных по Wi-Fi</a:t>
            </a:r>
          </a:p>
        </p:txBody>
      </p:sp>
      <p:pic>
        <p:nvPicPr>
          <p:cNvPr id="149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210758" y="2154435"/>
            <a:ext cx="1628538" cy="1209914"/>
          </a:xfrm>
          <a:prstGeom prst="rect">
            <a:avLst/>
          </a:prstGeom>
          <a:ln w="12700">
            <a:miter lim="400000"/>
          </a:ln>
        </p:spPr>
      </p:pic>
      <p:sp>
        <p:nvSpPr>
          <p:cNvPr id="150" name="Text 1"/>
          <p:cNvSpPr txBox="1"/>
          <p:nvPr/>
        </p:nvSpPr>
        <p:spPr>
          <a:xfrm>
            <a:off x="3947926" y="2699385"/>
            <a:ext cx="153963" cy="3936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lnSpc>
                <a:spcPts val="3300"/>
              </a:lnSpc>
              <a:defRPr sz="2000">
                <a:solidFill>
                  <a:srgbClr val="746558"/>
                </a:solidFill>
                <a:latin typeface="Gelasio Semi Bold"/>
                <a:ea typeface="Gelasio Semi Bold"/>
                <a:cs typeface="Gelasio Semi Bold"/>
                <a:sym typeface="Gelasio Semi Bold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151" name="Text 2"/>
          <p:cNvSpPr txBox="1"/>
          <p:nvPr/>
        </p:nvSpPr>
        <p:spPr>
          <a:xfrm>
            <a:off x="5049203" y="2364343"/>
            <a:ext cx="1369021" cy="3124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500"/>
              </a:lnSpc>
              <a:defRPr sz="2000">
                <a:solidFill>
                  <a:srgbClr val="746558"/>
                </a:solidFill>
                <a:latin typeface="Gelasio Semi Bold"/>
                <a:ea typeface="Gelasio Semi Bold"/>
                <a:cs typeface="Gelasio Semi Bold"/>
                <a:sym typeface="Gelasio Semi Bold"/>
              </a:defRPr>
            </a:lvl1pPr>
          </a:lstStyle>
          <a:p>
            <a:pPr/>
            <a:r>
              <a:t>Модуляция</a:t>
            </a:r>
          </a:p>
        </p:txBody>
      </p:sp>
      <p:sp>
        <p:nvSpPr>
          <p:cNvPr id="152" name="Text 3"/>
          <p:cNvSpPr txBox="1"/>
          <p:nvPr/>
        </p:nvSpPr>
        <p:spPr>
          <a:xfrm>
            <a:off x="5049203" y="2818447"/>
            <a:ext cx="6087071" cy="3108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600"/>
              </a:lnSpc>
              <a:defRPr sz="1600">
                <a:solidFill>
                  <a:srgbClr val="746558"/>
                </a:solidFill>
                <a:latin typeface="Gelasio"/>
                <a:ea typeface="Gelasio"/>
                <a:cs typeface="Gelasio"/>
                <a:sym typeface="Gelasio"/>
              </a:defRPr>
            </a:lvl1pPr>
          </a:lstStyle>
          <a:p>
            <a:pPr/>
            <a:r>
              <a:t>Преобразование цифровых данных в аналоговые радиоволны.</a:t>
            </a:r>
          </a:p>
        </p:txBody>
      </p:sp>
      <p:sp>
        <p:nvSpPr>
          <p:cNvPr id="153" name="Shape 4"/>
          <p:cNvSpPr/>
          <p:nvPr/>
        </p:nvSpPr>
        <p:spPr>
          <a:xfrm>
            <a:off x="4891682" y="3380383"/>
            <a:ext cx="8951358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10800"/>
                </a:moveTo>
                <a:cubicBezTo>
                  <a:pt x="0" y="4835"/>
                  <a:pt x="6" y="0"/>
                  <a:pt x="14" y="0"/>
                </a:cubicBezTo>
                <a:lnTo>
                  <a:pt x="21586" y="0"/>
                </a:lnTo>
                <a:cubicBezTo>
                  <a:pt x="21594" y="0"/>
                  <a:pt x="21600" y="4835"/>
                  <a:pt x="21600" y="10800"/>
                </a:cubicBezTo>
                <a:cubicBezTo>
                  <a:pt x="21600" y="16765"/>
                  <a:pt x="21594" y="21600"/>
                  <a:pt x="21586" y="21600"/>
                </a:cubicBezTo>
                <a:lnTo>
                  <a:pt x="14" y="21600"/>
                </a:lnTo>
                <a:cubicBezTo>
                  <a:pt x="6" y="21600"/>
                  <a:pt x="0" y="16765"/>
                  <a:pt x="0" y="10800"/>
                </a:cubicBezTo>
                <a:close/>
              </a:path>
            </a:pathLst>
          </a:custGeom>
          <a:solidFill>
            <a:srgbClr val="D4CEC3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154" name="Image 1" descr="Image 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396370" y="3416737"/>
            <a:ext cx="3257195" cy="1209914"/>
          </a:xfrm>
          <a:prstGeom prst="rect">
            <a:avLst/>
          </a:prstGeom>
          <a:ln w="12700">
            <a:miter lim="400000"/>
          </a:ln>
        </p:spPr>
      </p:pic>
      <p:sp>
        <p:nvSpPr>
          <p:cNvPr id="155" name="Text 5"/>
          <p:cNvSpPr txBox="1"/>
          <p:nvPr/>
        </p:nvSpPr>
        <p:spPr>
          <a:xfrm>
            <a:off x="3947926" y="3811666"/>
            <a:ext cx="153964" cy="3936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lnSpc>
                <a:spcPts val="3300"/>
              </a:lnSpc>
              <a:defRPr sz="2000">
                <a:solidFill>
                  <a:srgbClr val="746558"/>
                </a:solidFill>
                <a:latin typeface="Gelasio Semi Bold"/>
                <a:ea typeface="Gelasio Semi Bold"/>
                <a:cs typeface="Gelasio Semi Bold"/>
                <a:sym typeface="Gelasio Semi Bold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156" name="Text 6"/>
          <p:cNvSpPr txBox="1"/>
          <p:nvPr/>
        </p:nvSpPr>
        <p:spPr>
          <a:xfrm>
            <a:off x="5863471" y="3626644"/>
            <a:ext cx="1193032" cy="3124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500"/>
              </a:lnSpc>
              <a:defRPr sz="2000">
                <a:solidFill>
                  <a:srgbClr val="746558"/>
                </a:solidFill>
                <a:latin typeface="Gelasio Semi Bold"/>
                <a:ea typeface="Gelasio Semi Bold"/>
                <a:cs typeface="Gelasio Semi Bold"/>
                <a:sym typeface="Gelasio Semi Bold"/>
              </a:defRPr>
            </a:lvl1pPr>
          </a:lstStyle>
          <a:p>
            <a:pPr/>
            <a:r>
              <a:t>Передача</a:t>
            </a:r>
          </a:p>
        </p:txBody>
      </p:sp>
      <p:sp>
        <p:nvSpPr>
          <p:cNvPr id="157" name="Text 7"/>
          <p:cNvSpPr txBox="1"/>
          <p:nvPr/>
        </p:nvSpPr>
        <p:spPr>
          <a:xfrm>
            <a:off x="5863471" y="4080747"/>
            <a:ext cx="3585270" cy="3108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600"/>
              </a:lnSpc>
              <a:defRPr sz="1600">
                <a:solidFill>
                  <a:srgbClr val="746558"/>
                </a:solidFill>
                <a:latin typeface="Gelasio"/>
                <a:ea typeface="Gelasio"/>
                <a:cs typeface="Gelasio"/>
                <a:sym typeface="Gelasio"/>
              </a:defRPr>
            </a:lvl1pPr>
          </a:lstStyle>
          <a:p>
            <a:pPr/>
            <a:r>
              <a:t>Радиоволны передаются по воздуху.</a:t>
            </a:r>
          </a:p>
        </p:txBody>
      </p:sp>
      <p:sp>
        <p:nvSpPr>
          <p:cNvPr id="158" name="Shape 8"/>
          <p:cNvSpPr/>
          <p:nvPr/>
        </p:nvSpPr>
        <p:spPr>
          <a:xfrm>
            <a:off x="5705950" y="4642683"/>
            <a:ext cx="8137089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10800"/>
                </a:moveTo>
                <a:cubicBezTo>
                  <a:pt x="0" y="4835"/>
                  <a:pt x="7" y="0"/>
                  <a:pt x="15" y="0"/>
                </a:cubicBezTo>
                <a:lnTo>
                  <a:pt x="21585" y="0"/>
                </a:lnTo>
                <a:cubicBezTo>
                  <a:pt x="21593" y="0"/>
                  <a:pt x="21600" y="4835"/>
                  <a:pt x="21600" y="10800"/>
                </a:cubicBezTo>
                <a:cubicBezTo>
                  <a:pt x="21600" y="16765"/>
                  <a:pt x="21593" y="21600"/>
                  <a:pt x="21585" y="21600"/>
                </a:cubicBezTo>
                <a:lnTo>
                  <a:pt x="15" y="21600"/>
                </a:lnTo>
                <a:cubicBezTo>
                  <a:pt x="7" y="21600"/>
                  <a:pt x="0" y="16765"/>
                  <a:pt x="0" y="10800"/>
                </a:cubicBezTo>
                <a:close/>
              </a:path>
            </a:pathLst>
          </a:custGeom>
          <a:solidFill>
            <a:srgbClr val="D4CEC3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159" name="Image 2" descr="Image 2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582103" y="4679036"/>
            <a:ext cx="4885731" cy="1209914"/>
          </a:xfrm>
          <a:prstGeom prst="rect">
            <a:avLst/>
          </a:prstGeom>
          <a:ln w="12700">
            <a:miter lim="400000"/>
          </a:ln>
        </p:spPr>
      </p:pic>
      <p:sp>
        <p:nvSpPr>
          <p:cNvPr id="160" name="Text 9"/>
          <p:cNvSpPr txBox="1"/>
          <p:nvPr/>
        </p:nvSpPr>
        <p:spPr>
          <a:xfrm>
            <a:off x="3947926" y="5073967"/>
            <a:ext cx="153963" cy="3936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lnSpc>
                <a:spcPts val="3300"/>
              </a:lnSpc>
              <a:defRPr sz="2000">
                <a:solidFill>
                  <a:srgbClr val="746558"/>
                </a:solidFill>
                <a:latin typeface="Gelasio Semi Bold"/>
                <a:ea typeface="Gelasio Semi Bold"/>
                <a:cs typeface="Gelasio Semi Bold"/>
                <a:sym typeface="Gelasio Semi Bold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161" name="Text 10"/>
          <p:cNvSpPr txBox="1"/>
          <p:nvPr/>
        </p:nvSpPr>
        <p:spPr>
          <a:xfrm>
            <a:off x="6677738" y="4888943"/>
            <a:ext cx="796033" cy="3124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500"/>
              </a:lnSpc>
              <a:defRPr sz="2000">
                <a:solidFill>
                  <a:srgbClr val="746558"/>
                </a:solidFill>
                <a:latin typeface="Gelasio Semi Bold"/>
                <a:ea typeface="Gelasio Semi Bold"/>
                <a:cs typeface="Gelasio Semi Bold"/>
                <a:sym typeface="Gelasio Semi Bold"/>
              </a:defRPr>
            </a:lvl1pPr>
          </a:lstStyle>
          <a:p>
            <a:pPr/>
            <a:r>
              <a:t>Прием</a:t>
            </a:r>
          </a:p>
        </p:txBody>
      </p:sp>
      <p:sp>
        <p:nvSpPr>
          <p:cNvPr id="162" name="Text 11"/>
          <p:cNvSpPr txBox="1"/>
          <p:nvPr/>
        </p:nvSpPr>
        <p:spPr>
          <a:xfrm>
            <a:off x="6677738" y="5343049"/>
            <a:ext cx="4865788" cy="3108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600"/>
              </a:lnSpc>
              <a:defRPr sz="1600">
                <a:solidFill>
                  <a:srgbClr val="746558"/>
                </a:solidFill>
                <a:latin typeface="Gelasio"/>
                <a:ea typeface="Gelasio"/>
                <a:cs typeface="Gelasio"/>
                <a:sym typeface="Gelasio"/>
              </a:defRPr>
            </a:lvl1pPr>
          </a:lstStyle>
          <a:p>
            <a:pPr/>
            <a:r>
              <a:t>Приемник на устройстве улавливает радиоволны.</a:t>
            </a:r>
          </a:p>
        </p:txBody>
      </p:sp>
      <p:sp>
        <p:nvSpPr>
          <p:cNvPr id="163" name="Shape 12"/>
          <p:cNvSpPr/>
          <p:nvPr/>
        </p:nvSpPr>
        <p:spPr>
          <a:xfrm>
            <a:off x="6520219" y="5904984"/>
            <a:ext cx="7322820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10800"/>
                </a:moveTo>
                <a:cubicBezTo>
                  <a:pt x="0" y="4835"/>
                  <a:pt x="8" y="0"/>
                  <a:pt x="17" y="0"/>
                </a:cubicBezTo>
                <a:lnTo>
                  <a:pt x="21583" y="0"/>
                </a:lnTo>
                <a:cubicBezTo>
                  <a:pt x="21592" y="0"/>
                  <a:pt x="21600" y="4835"/>
                  <a:pt x="21600" y="10800"/>
                </a:cubicBezTo>
                <a:cubicBezTo>
                  <a:pt x="21600" y="16765"/>
                  <a:pt x="21592" y="21600"/>
                  <a:pt x="21583" y="21600"/>
                </a:cubicBezTo>
                <a:lnTo>
                  <a:pt x="17" y="21600"/>
                </a:lnTo>
                <a:cubicBezTo>
                  <a:pt x="8" y="21600"/>
                  <a:pt x="0" y="16765"/>
                  <a:pt x="0" y="10800"/>
                </a:cubicBezTo>
                <a:close/>
              </a:path>
            </a:pathLst>
          </a:custGeom>
          <a:solidFill>
            <a:srgbClr val="D4CEC3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164" name="Image 3" descr="Image 3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767833" y="5941338"/>
            <a:ext cx="6514388" cy="1209914"/>
          </a:xfrm>
          <a:prstGeom prst="rect">
            <a:avLst/>
          </a:prstGeom>
          <a:ln w="12700">
            <a:miter lim="400000"/>
          </a:ln>
        </p:spPr>
      </p:pic>
      <p:sp>
        <p:nvSpPr>
          <p:cNvPr id="165" name="Text 13"/>
          <p:cNvSpPr txBox="1"/>
          <p:nvPr/>
        </p:nvSpPr>
        <p:spPr>
          <a:xfrm>
            <a:off x="3947986" y="6336267"/>
            <a:ext cx="153963" cy="3936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lnSpc>
                <a:spcPts val="3300"/>
              </a:lnSpc>
              <a:defRPr sz="2000">
                <a:solidFill>
                  <a:srgbClr val="746558"/>
                </a:solidFill>
                <a:latin typeface="Gelasio Semi Bold"/>
                <a:ea typeface="Gelasio Semi Bold"/>
                <a:cs typeface="Gelasio Semi Bold"/>
                <a:sym typeface="Gelasio Semi Bold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166" name="Text 14"/>
          <p:cNvSpPr txBox="1"/>
          <p:nvPr/>
        </p:nvSpPr>
        <p:spPr>
          <a:xfrm>
            <a:off x="7492127" y="6151245"/>
            <a:ext cx="1645965" cy="3124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500"/>
              </a:lnSpc>
              <a:defRPr sz="2000">
                <a:solidFill>
                  <a:srgbClr val="746558"/>
                </a:solidFill>
                <a:latin typeface="Gelasio Semi Bold"/>
                <a:ea typeface="Gelasio Semi Bold"/>
                <a:cs typeface="Gelasio Semi Bold"/>
                <a:sym typeface="Gelasio Semi Bold"/>
              </a:defRPr>
            </a:lvl1pPr>
          </a:lstStyle>
          <a:p>
            <a:pPr/>
            <a:r>
              <a:t>Демодуляция</a:t>
            </a:r>
          </a:p>
        </p:txBody>
      </p:sp>
      <p:sp>
        <p:nvSpPr>
          <p:cNvPr id="167" name="Text 15"/>
          <p:cNvSpPr txBox="1"/>
          <p:nvPr/>
        </p:nvSpPr>
        <p:spPr>
          <a:xfrm>
            <a:off x="7492127" y="6605348"/>
            <a:ext cx="5608142" cy="3108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600"/>
              </a:lnSpc>
              <a:defRPr sz="1600">
                <a:solidFill>
                  <a:srgbClr val="746558"/>
                </a:solidFill>
                <a:latin typeface="Gelasio"/>
                <a:ea typeface="Gelasio"/>
                <a:cs typeface="Gelasio"/>
                <a:sym typeface="Gelasio"/>
              </a:defRPr>
            </a:lvl1pPr>
          </a:lstStyle>
          <a:p>
            <a:pPr/>
            <a:r>
              <a:t>Преобразование радиоволн обратно в цифровые данные.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  <a:ln w="12700">
            <a:miter lim="400000"/>
          </a:ln>
        </p:spPr>
      </p:pic>
      <p:sp>
        <p:nvSpPr>
          <p:cNvPr id="170" name="Text 0"/>
          <p:cNvSpPr txBox="1"/>
          <p:nvPr/>
        </p:nvSpPr>
        <p:spPr>
          <a:xfrm>
            <a:off x="793790" y="2401013"/>
            <a:ext cx="7556422" cy="1385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5500"/>
              </a:lnSpc>
              <a:defRPr sz="4400">
                <a:solidFill>
                  <a:srgbClr val="484237"/>
                </a:solidFill>
                <a:latin typeface="Gelasio Semi Bold"/>
                <a:ea typeface="Gelasio Semi Bold"/>
                <a:cs typeface="Gelasio Semi Bold"/>
                <a:sym typeface="Gelasio Semi Bold"/>
              </a:defRPr>
            </a:lvl1pPr>
          </a:lstStyle>
          <a:p>
            <a:pPr/>
            <a:r>
              <a:t>Частотные диапазоны и каналы Wi-Fi</a:t>
            </a:r>
          </a:p>
        </p:txBody>
      </p:sp>
      <p:sp>
        <p:nvSpPr>
          <p:cNvPr id="171" name="Shape 1"/>
          <p:cNvSpPr/>
          <p:nvPr/>
        </p:nvSpPr>
        <p:spPr>
          <a:xfrm>
            <a:off x="793790" y="4158734"/>
            <a:ext cx="3664864" cy="1669853"/>
          </a:xfrm>
          <a:prstGeom prst="roundRect">
            <a:avLst>
              <a:gd name="adj" fmla="val 2038"/>
            </a:avLst>
          </a:prstGeom>
          <a:solidFill>
            <a:srgbClr val="EEE8DD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72" name="Text 2"/>
          <p:cNvSpPr txBox="1"/>
          <p:nvPr/>
        </p:nvSpPr>
        <p:spPr>
          <a:xfrm>
            <a:off x="1020603" y="4385547"/>
            <a:ext cx="928255" cy="3385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700"/>
              </a:lnSpc>
              <a:defRPr sz="2200">
                <a:solidFill>
                  <a:srgbClr val="746558"/>
                </a:solidFill>
                <a:latin typeface="Gelasio Semi Bold"/>
                <a:ea typeface="Gelasio Semi Bold"/>
                <a:cs typeface="Gelasio Semi Bold"/>
                <a:sym typeface="Gelasio Semi Bold"/>
              </a:defRPr>
            </a:lvl1pPr>
          </a:lstStyle>
          <a:p>
            <a:pPr/>
            <a:r>
              <a:t>2,4 ГГц</a:t>
            </a:r>
          </a:p>
        </p:txBody>
      </p:sp>
      <p:sp>
        <p:nvSpPr>
          <p:cNvPr id="173" name="Text 3"/>
          <p:cNvSpPr txBox="1"/>
          <p:nvPr/>
        </p:nvSpPr>
        <p:spPr>
          <a:xfrm>
            <a:off x="1020603" y="4875967"/>
            <a:ext cx="3211236" cy="6897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800"/>
              </a:lnSpc>
              <a:defRPr sz="1700">
                <a:solidFill>
                  <a:srgbClr val="746558"/>
                </a:solidFill>
                <a:latin typeface="Gelasio"/>
                <a:ea typeface="Gelasio"/>
                <a:cs typeface="Gelasio"/>
                <a:sym typeface="Gelasio"/>
              </a:defRPr>
            </a:lvl1pPr>
          </a:lstStyle>
          <a:p>
            <a:pPr/>
            <a:r>
              <a:t>Более распространенный, но подвержен помехам.</a:t>
            </a:r>
          </a:p>
        </p:txBody>
      </p:sp>
      <p:sp>
        <p:nvSpPr>
          <p:cNvPr id="174" name="Shape 4"/>
          <p:cNvSpPr/>
          <p:nvPr/>
        </p:nvSpPr>
        <p:spPr>
          <a:xfrm>
            <a:off x="4685467" y="4158734"/>
            <a:ext cx="3664864" cy="1669853"/>
          </a:xfrm>
          <a:prstGeom prst="roundRect">
            <a:avLst>
              <a:gd name="adj" fmla="val 2038"/>
            </a:avLst>
          </a:prstGeom>
          <a:solidFill>
            <a:srgbClr val="EEE8DD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75" name="Text 5"/>
          <p:cNvSpPr txBox="1"/>
          <p:nvPr/>
        </p:nvSpPr>
        <p:spPr>
          <a:xfrm>
            <a:off x="4912281" y="4385547"/>
            <a:ext cx="695239" cy="3385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700"/>
              </a:lnSpc>
              <a:defRPr sz="2200">
                <a:solidFill>
                  <a:srgbClr val="746558"/>
                </a:solidFill>
                <a:latin typeface="Gelasio Semi Bold"/>
                <a:ea typeface="Gelasio Semi Bold"/>
                <a:cs typeface="Gelasio Semi Bold"/>
                <a:sym typeface="Gelasio Semi Bold"/>
              </a:defRPr>
            </a:lvl1pPr>
          </a:lstStyle>
          <a:p>
            <a:pPr/>
            <a:r>
              <a:t>5 ГГц</a:t>
            </a:r>
          </a:p>
        </p:txBody>
      </p:sp>
      <p:sp>
        <p:nvSpPr>
          <p:cNvPr id="176" name="Text 6"/>
          <p:cNvSpPr txBox="1"/>
          <p:nvPr/>
        </p:nvSpPr>
        <p:spPr>
          <a:xfrm>
            <a:off x="4912281" y="4875967"/>
            <a:ext cx="3211236" cy="6897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800"/>
              </a:lnSpc>
              <a:defRPr sz="1700">
                <a:solidFill>
                  <a:srgbClr val="746558"/>
                </a:solidFill>
                <a:latin typeface="Gelasio"/>
                <a:ea typeface="Gelasio"/>
                <a:cs typeface="Gelasio"/>
                <a:sym typeface="Gelasio"/>
              </a:defRPr>
            </a:lvl1pPr>
          </a:lstStyle>
          <a:p>
            <a:pPr/>
            <a:r>
              <a:t>Меньше помех, но меньший радиус действия.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  <a:ln w="12700">
            <a:miter lim="400000"/>
          </a:ln>
        </p:spPr>
      </p:pic>
      <p:sp>
        <p:nvSpPr>
          <p:cNvPr id="179" name="Text 0"/>
          <p:cNvSpPr txBox="1"/>
          <p:nvPr/>
        </p:nvSpPr>
        <p:spPr>
          <a:xfrm>
            <a:off x="6259472" y="608290"/>
            <a:ext cx="7597856" cy="13600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5400"/>
              </a:lnSpc>
              <a:defRPr sz="4300">
                <a:solidFill>
                  <a:srgbClr val="484237"/>
                </a:solidFill>
                <a:latin typeface="Gelasio Semi Bold"/>
                <a:ea typeface="Gelasio Semi Bold"/>
                <a:cs typeface="Gelasio Semi Bold"/>
                <a:sym typeface="Gelasio Semi Bold"/>
              </a:defRPr>
            </a:lvl1pPr>
          </a:lstStyle>
          <a:p>
            <a:pPr/>
            <a:r>
              <a:t>Технология OFDM: ключ к стабильному Wi-Fi</a:t>
            </a:r>
          </a:p>
        </p:txBody>
      </p:sp>
      <p:pic>
        <p:nvPicPr>
          <p:cNvPr id="180" name="Image 1" descr="Image 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259472" y="2319933"/>
            <a:ext cx="1104425" cy="1767127"/>
          </a:xfrm>
          <a:prstGeom prst="rect">
            <a:avLst/>
          </a:prstGeom>
          <a:ln w="12700">
            <a:miter lim="400000"/>
          </a:ln>
        </p:spPr>
      </p:pic>
      <p:sp>
        <p:nvSpPr>
          <p:cNvPr id="181" name="Text 1"/>
          <p:cNvSpPr txBox="1"/>
          <p:nvPr/>
        </p:nvSpPr>
        <p:spPr>
          <a:xfrm>
            <a:off x="7695127" y="2540793"/>
            <a:ext cx="2604562" cy="3356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700"/>
              </a:lnSpc>
              <a:defRPr sz="2100">
                <a:solidFill>
                  <a:srgbClr val="746558"/>
                </a:solidFill>
                <a:latin typeface="Gelasio Semi Bold"/>
                <a:ea typeface="Gelasio Semi Bold"/>
                <a:cs typeface="Gelasio Semi Bold"/>
                <a:sym typeface="Gelasio Semi Bold"/>
              </a:defRPr>
            </a:lvl1pPr>
          </a:lstStyle>
          <a:p>
            <a:pPr/>
            <a:r>
              <a:t>Разделение сигнала</a:t>
            </a:r>
          </a:p>
        </p:txBody>
      </p:sp>
      <p:sp>
        <p:nvSpPr>
          <p:cNvPr id="182" name="Text 2"/>
          <p:cNvSpPr txBox="1"/>
          <p:nvPr/>
        </p:nvSpPr>
        <p:spPr>
          <a:xfrm>
            <a:off x="7695127" y="3018352"/>
            <a:ext cx="5595951" cy="3239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700"/>
              </a:lnSpc>
              <a:defRPr sz="1700">
                <a:solidFill>
                  <a:srgbClr val="746558"/>
                </a:solidFill>
                <a:latin typeface="Gelasio"/>
                <a:ea typeface="Gelasio"/>
                <a:cs typeface="Gelasio"/>
                <a:sym typeface="Gelasio"/>
              </a:defRPr>
            </a:lvl1pPr>
          </a:lstStyle>
          <a:p>
            <a:pPr/>
            <a:r>
              <a:t>Разделение потока данных на несколько поднесущих.</a:t>
            </a:r>
          </a:p>
        </p:txBody>
      </p:sp>
      <p:pic>
        <p:nvPicPr>
          <p:cNvPr id="183" name="Image 2" descr="Image 2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6259472" y="4087057"/>
            <a:ext cx="1104425" cy="1767127"/>
          </a:xfrm>
          <a:prstGeom prst="rect">
            <a:avLst/>
          </a:prstGeom>
          <a:ln w="12700">
            <a:miter lim="400000"/>
          </a:ln>
        </p:spPr>
      </p:pic>
      <p:sp>
        <p:nvSpPr>
          <p:cNvPr id="184" name="Text 3"/>
          <p:cNvSpPr txBox="1"/>
          <p:nvPr/>
        </p:nvSpPr>
        <p:spPr>
          <a:xfrm>
            <a:off x="7695127" y="4307918"/>
            <a:ext cx="3263108" cy="3356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700"/>
              </a:lnSpc>
              <a:defRPr sz="2100">
                <a:solidFill>
                  <a:srgbClr val="746558"/>
                </a:solidFill>
                <a:latin typeface="Gelasio Semi Bold"/>
                <a:ea typeface="Gelasio Semi Bold"/>
                <a:cs typeface="Gelasio Semi Bold"/>
                <a:sym typeface="Gelasio Semi Bold"/>
              </a:defRPr>
            </a:lvl1pPr>
          </a:lstStyle>
          <a:p>
            <a:pPr/>
            <a:r>
              <a:t>Передача по поднесущим</a:t>
            </a:r>
          </a:p>
        </p:txBody>
      </p:sp>
      <p:sp>
        <p:nvSpPr>
          <p:cNvPr id="185" name="Text 4"/>
          <p:cNvSpPr txBox="1"/>
          <p:nvPr/>
        </p:nvSpPr>
        <p:spPr>
          <a:xfrm>
            <a:off x="7695127" y="4785478"/>
            <a:ext cx="6162201" cy="3239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700"/>
              </a:lnSpc>
              <a:defRPr sz="1700">
                <a:solidFill>
                  <a:srgbClr val="746558"/>
                </a:solidFill>
                <a:latin typeface="Gelasio"/>
                <a:ea typeface="Gelasio"/>
                <a:cs typeface="Gelasio"/>
                <a:sym typeface="Gelasio"/>
              </a:defRPr>
            </a:lvl1pPr>
          </a:lstStyle>
          <a:p>
            <a:pPr/>
            <a:r>
              <a:t>Передача данных по нескольким частотным диапазонам.</a:t>
            </a:r>
          </a:p>
        </p:txBody>
      </p:sp>
      <p:pic>
        <p:nvPicPr>
          <p:cNvPr id="186" name="Image 3" descr="Image 3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6259472" y="5854184"/>
            <a:ext cx="1104425" cy="1767127"/>
          </a:xfrm>
          <a:prstGeom prst="rect">
            <a:avLst/>
          </a:prstGeom>
          <a:ln w="12700">
            <a:miter lim="400000"/>
          </a:ln>
        </p:spPr>
      </p:pic>
      <p:sp>
        <p:nvSpPr>
          <p:cNvPr id="187" name="Text 5"/>
          <p:cNvSpPr txBox="1"/>
          <p:nvPr/>
        </p:nvSpPr>
        <p:spPr>
          <a:xfrm>
            <a:off x="7695127" y="6075045"/>
            <a:ext cx="2013342" cy="3356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700"/>
              </a:lnSpc>
              <a:defRPr sz="2100">
                <a:solidFill>
                  <a:srgbClr val="746558"/>
                </a:solidFill>
                <a:latin typeface="Gelasio Semi Bold"/>
                <a:ea typeface="Gelasio Semi Bold"/>
                <a:cs typeface="Gelasio Semi Bold"/>
                <a:sym typeface="Gelasio Semi Bold"/>
              </a:defRPr>
            </a:lvl1pPr>
          </a:lstStyle>
          <a:p>
            <a:pPr/>
            <a:r>
              <a:t>Сборка сигнала</a:t>
            </a:r>
          </a:p>
        </p:txBody>
      </p:sp>
      <p:sp>
        <p:nvSpPr>
          <p:cNvPr id="188" name="Text 6"/>
          <p:cNvSpPr txBox="1"/>
          <p:nvPr/>
        </p:nvSpPr>
        <p:spPr>
          <a:xfrm>
            <a:off x="7695127" y="6552604"/>
            <a:ext cx="5188820" cy="3239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700"/>
              </a:lnSpc>
              <a:defRPr sz="1700">
                <a:solidFill>
                  <a:srgbClr val="746558"/>
                </a:solidFill>
                <a:latin typeface="Gelasio"/>
                <a:ea typeface="Gelasio"/>
                <a:cs typeface="Gelasio"/>
                <a:sym typeface="Gelasio"/>
              </a:defRPr>
            </a:lvl1pPr>
          </a:lstStyle>
          <a:p>
            <a:pPr/>
            <a:r>
              <a:t>Восстановление исходного сигнала на приемнике.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0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  <a:ln w="12700">
            <a:miter lim="400000"/>
          </a:ln>
        </p:spPr>
      </p:pic>
      <p:sp>
        <p:nvSpPr>
          <p:cNvPr id="191" name="Text 0"/>
          <p:cNvSpPr txBox="1"/>
          <p:nvPr/>
        </p:nvSpPr>
        <p:spPr>
          <a:xfrm>
            <a:off x="793790" y="1115257"/>
            <a:ext cx="7556422" cy="1385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5500"/>
              </a:lnSpc>
              <a:defRPr sz="4400">
                <a:solidFill>
                  <a:srgbClr val="484237"/>
                </a:solidFill>
                <a:latin typeface="Gelasio Semi Bold"/>
                <a:ea typeface="Gelasio Semi Bold"/>
                <a:cs typeface="Gelasio Semi Bold"/>
                <a:sym typeface="Gelasio Semi Bold"/>
              </a:defRPr>
            </a:lvl1pPr>
          </a:lstStyle>
          <a:p>
            <a:pPr/>
            <a:r>
              <a:t>Обеспечение безопасности Wi-Fi-соединения</a:t>
            </a:r>
          </a:p>
        </p:txBody>
      </p:sp>
      <p:sp>
        <p:nvSpPr>
          <p:cNvPr id="192" name="Shape 1"/>
          <p:cNvSpPr/>
          <p:nvPr/>
        </p:nvSpPr>
        <p:spPr>
          <a:xfrm>
            <a:off x="793790" y="3836908"/>
            <a:ext cx="510303" cy="510303"/>
          </a:xfrm>
          <a:prstGeom prst="roundRect">
            <a:avLst>
              <a:gd name="adj" fmla="val 6667"/>
            </a:avLst>
          </a:prstGeom>
          <a:solidFill>
            <a:srgbClr val="EEE8DD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93" name="Text 2"/>
          <p:cNvSpPr txBox="1"/>
          <p:nvPr/>
        </p:nvSpPr>
        <p:spPr>
          <a:xfrm>
            <a:off x="950770" y="3921919"/>
            <a:ext cx="196342" cy="340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lnSpc>
                <a:spcPts val="2600"/>
              </a:lnSpc>
              <a:defRPr sz="2600">
                <a:solidFill>
                  <a:srgbClr val="746558"/>
                </a:solidFill>
                <a:latin typeface="Gelasio Semi Bold"/>
                <a:ea typeface="Gelasio Semi Bold"/>
                <a:cs typeface="Gelasio Semi Bold"/>
                <a:sym typeface="Gelasio Semi Bold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194" name="Text 3"/>
          <p:cNvSpPr txBox="1"/>
          <p:nvPr/>
        </p:nvSpPr>
        <p:spPr>
          <a:xfrm>
            <a:off x="1530905" y="3836908"/>
            <a:ext cx="1632758" cy="3385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700"/>
              </a:lnSpc>
              <a:defRPr sz="2200">
                <a:solidFill>
                  <a:srgbClr val="746558"/>
                </a:solidFill>
                <a:latin typeface="Gelasio Semi Bold"/>
                <a:ea typeface="Gelasio Semi Bold"/>
                <a:cs typeface="Gelasio Semi Bold"/>
                <a:sym typeface="Gelasio Semi Bold"/>
              </a:defRPr>
            </a:lvl1pPr>
          </a:lstStyle>
          <a:p>
            <a:pPr/>
            <a:r>
              <a:t>WPA2/WPA3</a:t>
            </a:r>
          </a:p>
        </p:txBody>
      </p:sp>
      <p:sp>
        <p:nvSpPr>
          <p:cNvPr id="195" name="Text 4"/>
          <p:cNvSpPr txBox="1"/>
          <p:nvPr/>
        </p:nvSpPr>
        <p:spPr>
          <a:xfrm>
            <a:off x="1530905" y="4327326"/>
            <a:ext cx="2927749" cy="6897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800"/>
              </a:lnSpc>
              <a:defRPr sz="1700">
                <a:solidFill>
                  <a:srgbClr val="746558"/>
                </a:solidFill>
                <a:latin typeface="Gelasio"/>
                <a:ea typeface="Gelasio"/>
                <a:cs typeface="Gelasio"/>
                <a:sym typeface="Gelasio"/>
              </a:defRPr>
            </a:lvl1pPr>
          </a:lstStyle>
          <a:p>
            <a:pPr/>
            <a:r>
              <a:t>Современные протоколы шифрования данных.</a:t>
            </a:r>
          </a:p>
        </p:txBody>
      </p:sp>
      <p:sp>
        <p:nvSpPr>
          <p:cNvPr id="196" name="Shape 5"/>
          <p:cNvSpPr/>
          <p:nvPr/>
        </p:nvSpPr>
        <p:spPr>
          <a:xfrm>
            <a:off x="4685467" y="3836908"/>
            <a:ext cx="510303" cy="510303"/>
          </a:xfrm>
          <a:prstGeom prst="roundRect">
            <a:avLst>
              <a:gd name="adj" fmla="val 6667"/>
            </a:avLst>
          </a:prstGeom>
          <a:solidFill>
            <a:srgbClr val="EEE8DD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97" name="Text 6"/>
          <p:cNvSpPr txBox="1"/>
          <p:nvPr/>
        </p:nvSpPr>
        <p:spPr>
          <a:xfrm>
            <a:off x="4842446" y="3921919"/>
            <a:ext cx="196342" cy="340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lnSpc>
                <a:spcPts val="2600"/>
              </a:lnSpc>
              <a:defRPr sz="2600">
                <a:solidFill>
                  <a:srgbClr val="746558"/>
                </a:solidFill>
                <a:latin typeface="Gelasio Semi Bold"/>
                <a:ea typeface="Gelasio Semi Bold"/>
                <a:cs typeface="Gelasio Semi Bold"/>
                <a:sym typeface="Gelasio Semi Bold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198" name="Text 7"/>
          <p:cNvSpPr txBox="1"/>
          <p:nvPr/>
        </p:nvSpPr>
        <p:spPr>
          <a:xfrm>
            <a:off x="5422582" y="3836908"/>
            <a:ext cx="2196878" cy="3385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700"/>
              </a:lnSpc>
              <a:defRPr sz="2200">
                <a:solidFill>
                  <a:srgbClr val="746558"/>
                </a:solidFill>
                <a:latin typeface="Gelasio Semi Bold"/>
                <a:ea typeface="Gelasio Semi Bold"/>
                <a:cs typeface="Gelasio Semi Bold"/>
                <a:sym typeface="Gelasio Semi Bold"/>
              </a:defRPr>
            </a:lvl1pPr>
          </a:lstStyle>
          <a:p>
            <a:pPr/>
            <a:r>
              <a:t>Сильный пароль</a:t>
            </a:r>
          </a:p>
        </p:txBody>
      </p:sp>
      <p:sp>
        <p:nvSpPr>
          <p:cNvPr id="199" name="Text 8"/>
          <p:cNvSpPr txBox="1"/>
          <p:nvPr/>
        </p:nvSpPr>
        <p:spPr>
          <a:xfrm>
            <a:off x="5422582" y="4327326"/>
            <a:ext cx="2927749" cy="10453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800"/>
              </a:lnSpc>
              <a:defRPr sz="1700">
                <a:solidFill>
                  <a:srgbClr val="746558"/>
                </a:solidFill>
                <a:latin typeface="Gelasio"/>
                <a:ea typeface="Gelasio"/>
                <a:cs typeface="Gelasio"/>
                <a:sym typeface="Gelasio"/>
              </a:defRPr>
            </a:lvl1pPr>
          </a:lstStyle>
          <a:p>
            <a:pPr/>
            <a:r>
              <a:t>Используйте сложный пароль, состоящий из букв, цифр и символов.</a:t>
            </a:r>
          </a:p>
        </p:txBody>
      </p:sp>
      <p:sp>
        <p:nvSpPr>
          <p:cNvPr id="200" name="Shape 9"/>
          <p:cNvSpPr/>
          <p:nvPr/>
        </p:nvSpPr>
        <p:spPr>
          <a:xfrm>
            <a:off x="793790" y="5897998"/>
            <a:ext cx="510303" cy="510303"/>
          </a:xfrm>
          <a:prstGeom prst="roundRect">
            <a:avLst>
              <a:gd name="adj" fmla="val 6667"/>
            </a:avLst>
          </a:prstGeom>
          <a:solidFill>
            <a:srgbClr val="EEE8DD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01" name="Text 10"/>
          <p:cNvSpPr txBox="1"/>
          <p:nvPr/>
        </p:nvSpPr>
        <p:spPr>
          <a:xfrm>
            <a:off x="950770" y="5983009"/>
            <a:ext cx="196342" cy="340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lnSpc>
                <a:spcPts val="2600"/>
              </a:lnSpc>
              <a:defRPr sz="2600">
                <a:solidFill>
                  <a:srgbClr val="746558"/>
                </a:solidFill>
                <a:latin typeface="Gelasio Semi Bold"/>
                <a:ea typeface="Gelasio Semi Bold"/>
                <a:cs typeface="Gelasio Semi Bold"/>
                <a:sym typeface="Gelasio Semi Bold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202" name="Text 11"/>
          <p:cNvSpPr txBox="1"/>
          <p:nvPr/>
        </p:nvSpPr>
        <p:spPr>
          <a:xfrm>
            <a:off x="1530905" y="5897998"/>
            <a:ext cx="1882280" cy="3385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700"/>
              </a:lnSpc>
              <a:defRPr sz="2200">
                <a:solidFill>
                  <a:srgbClr val="746558"/>
                </a:solidFill>
                <a:latin typeface="Gelasio Semi Bold"/>
                <a:ea typeface="Gelasio Semi Bold"/>
                <a:cs typeface="Gelasio Semi Bold"/>
                <a:sym typeface="Gelasio Semi Bold"/>
              </a:defRPr>
            </a:lvl1pPr>
          </a:lstStyle>
          <a:p>
            <a:pPr/>
            <a:r>
              <a:t>Смена пароля</a:t>
            </a:r>
          </a:p>
        </p:txBody>
      </p:sp>
      <p:sp>
        <p:nvSpPr>
          <p:cNvPr id="203" name="Text 12"/>
          <p:cNvSpPr txBox="1"/>
          <p:nvPr/>
        </p:nvSpPr>
        <p:spPr>
          <a:xfrm>
            <a:off x="1530905" y="6388417"/>
            <a:ext cx="6819305" cy="3341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800"/>
              </a:lnSpc>
              <a:defRPr sz="1700">
                <a:solidFill>
                  <a:srgbClr val="746558"/>
                </a:solidFill>
                <a:latin typeface="Gelasio"/>
                <a:ea typeface="Gelasio"/>
                <a:cs typeface="Gelasio"/>
                <a:sym typeface="Gelasio"/>
              </a:defRPr>
            </a:lvl1pPr>
          </a:lstStyle>
          <a:p>
            <a:pPr/>
            <a:r>
              <a:t>Регулярно обновляйте пароль для повышения безопасности.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  <a:ln w="12700">
            <a:miter lim="400000"/>
          </a:ln>
        </p:spPr>
      </p:pic>
      <p:sp>
        <p:nvSpPr>
          <p:cNvPr id="206" name="Text 0"/>
          <p:cNvSpPr txBox="1"/>
          <p:nvPr/>
        </p:nvSpPr>
        <p:spPr>
          <a:xfrm>
            <a:off x="6170652" y="641033"/>
            <a:ext cx="7775496" cy="1208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4800"/>
              </a:lnSpc>
              <a:defRPr sz="3800">
                <a:solidFill>
                  <a:srgbClr val="484237"/>
                </a:solidFill>
                <a:latin typeface="Gelasio Semi Bold"/>
                <a:ea typeface="Gelasio Semi Bold"/>
                <a:cs typeface="Gelasio Semi Bold"/>
                <a:sym typeface="Gelasio Semi Bold"/>
              </a:defRPr>
            </a:lvl1pPr>
          </a:lstStyle>
          <a:p>
            <a:pPr/>
            <a:r>
              <a:t>Методы повышения производительности Wi-Fi</a:t>
            </a:r>
          </a:p>
        </p:txBody>
      </p:sp>
      <p:pic>
        <p:nvPicPr>
          <p:cNvPr id="207" name="Image 1" descr="Image 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170652" y="2156103"/>
            <a:ext cx="488753" cy="488753"/>
          </a:xfrm>
          <a:prstGeom prst="rect">
            <a:avLst/>
          </a:prstGeom>
          <a:ln w="12700">
            <a:miter lim="400000"/>
          </a:ln>
        </p:spPr>
      </p:pic>
      <p:sp>
        <p:nvSpPr>
          <p:cNvPr id="208" name="Text 1"/>
          <p:cNvSpPr txBox="1"/>
          <p:nvPr/>
        </p:nvSpPr>
        <p:spPr>
          <a:xfrm>
            <a:off x="6170652" y="2840354"/>
            <a:ext cx="2326730" cy="2993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400"/>
              </a:lnSpc>
              <a:defRPr sz="1900">
                <a:solidFill>
                  <a:srgbClr val="746558"/>
                </a:solidFill>
                <a:latin typeface="Gelasio Semi Bold"/>
                <a:ea typeface="Gelasio Semi Bold"/>
                <a:cs typeface="Gelasio Semi Bold"/>
                <a:sym typeface="Gelasio Semi Bold"/>
              </a:defRPr>
            </a:lvl1pPr>
          </a:lstStyle>
          <a:p>
            <a:pPr/>
            <a:r>
              <a:t>Улучшение антенны</a:t>
            </a:r>
          </a:p>
        </p:txBody>
      </p:sp>
      <p:sp>
        <p:nvSpPr>
          <p:cNvPr id="209" name="Text 2"/>
          <p:cNvSpPr txBox="1"/>
          <p:nvPr/>
        </p:nvSpPr>
        <p:spPr>
          <a:xfrm>
            <a:off x="6170652" y="3263146"/>
            <a:ext cx="6091213" cy="2876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400"/>
              </a:lnSpc>
              <a:defRPr sz="1500">
                <a:solidFill>
                  <a:srgbClr val="746558"/>
                </a:solidFill>
                <a:latin typeface="Gelasio"/>
                <a:ea typeface="Gelasio"/>
                <a:cs typeface="Gelasio"/>
                <a:sym typeface="Gelasio"/>
              </a:defRPr>
            </a:lvl1pPr>
          </a:lstStyle>
          <a:p>
            <a:pPr/>
            <a:r>
              <a:t>Используйте внешнюю антенну для увеличения радиуса действия.</a:t>
            </a:r>
          </a:p>
        </p:txBody>
      </p:sp>
      <p:pic>
        <p:nvPicPr>
          <p:cNvPr id="210" name="Image 2" descr="Image 2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6170652" y="4162425"/>
            <a:ext cx="488753" cy="488752"/>
          </a:xfrm>
          <a:prstGeom prst="rect">
            <a:avLst/>
          </a:prstGeom>
          <a:ln w="12700">
            <a:miter lim="400000"/>
          </a:ln>
        </p:spPr>
      </p:pic>
      <p:sp>
        <p:nvSpPr>
          <p:cNvPr id="211" name="Text 3"/>
          <p:cNvSpPr txBox="1"/>
          <p:nvPr/>
        </p:nvSpPr>
        <p:spPr>
          <a:xfrm>
            <a:off x="6170652" y="4846677"/>
            <a:ext cx="2154709" cy="2993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400"/>
              </a:lnSpc>
              <a:defRPr sz="1900">
                <a:solidFill>
                  <a:srgbClr val="746558"/>
                </a:solidFill>
                <a:latin typeface="Gelasio Semi Bold"/>
                <a:ea typeface="Gelasio Semi Bold"/>
                <a:cs typeface="Gelasio Semi Bold"/>
                <a:sym typeface="Gelasio Semi Bold"/>
              </a:defRPr>
            </a:lvl1pPr>
          </a:lstStyle>
          <a:p>
            <a:pPr/>
            <a:r>
              <a:t>Изменение канала</a:t>
            </a:r>
          </a:p>
        </p:txBody>
      </p:sp>
      <p:sp>
        <p:nvSpPr>
          <p:cNvPr id="212" name="Text 4"/>
          <p:cNvSpPr txBox="1"/>
          <p:nvPr/>
        </p:nvSpPr>
        <p:spPr>
          <a:xfrm>
            <a:off x="6170652" y="5269467"/>
            <a:ext cx="4702089" cy="2876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400"/>
              </a:lnSpc>
              <a:defRPr sz="1500">
                <a:solidFill>
                  <a:srgbClr val="746558"/>
                </a:solidFill>
                <a:latin typeface="Gelasio"/>
                <a:ea typeface="Gelasio"/>
                <a:cs typeface="Gelasio"/>
                <a:sym typeface="Gelasio"/>
              </a:defRPr>
            </a:lvl1pPr>
          </a:lstStyle>
          <a:p>
            <a:pPr/>
            <a:r>
              <a:t>Выберите канал с наименьшим количеством помех.</a:t>
            </a:r>
          </a:p>
        </p:txBody>
      </p:sp>
      <p:pic>
        <p:nvPicPr>
          <p:cNvPr id="213" name="Image 3" descr="Image 3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6170652" y="6168747"/>
            <a:ext cx="488753" cy="488753"/>
          </a:xfrm>
          <a:prstGeom prst="rect">
            <a:avLst/>
          </a:prstGeom>
          <a:ln w="12700">
            <a:miter lim="400000"/>
          </a:ln>
        </p:spPr>
      </p:pic>
      <p:sp>
        <p:nvSpPr>
          <p:cNvPr id="214" name="Text 5"/>
          <p:cNvSpPr txBox="1"/>
          <p:nvPr/>
        </p:nvSpPr>
        <p:spPr>
          <a:xfrm>
            <a:off x="6170652" y="6852998"/>
            <a:ext cx="2620461" cy="2993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400"/>
              </a:lnSpc>
              <a:defRPr sz="1900">
                <a:solidFill>
                  <a:srgbClr val="746558"/>
                </a:solidFill>
                <a:latin typeface="Gelasio Semi Bold"/>
                <a:ea typeface="Gelasio Semi Bold"/>
                <a:cs typeface="Gelasio Semi Bold"/>
                <a:sym typeface="Gelasio Semi Bold"/>
              </a:defRPr>
            </a:lvl1pPr>
          </a:lstStyle>
          <a:p>
            <a:pPr/>
            <a:r>
              <a:t>Обновление прошивки</a:t>
            </a:r>
          </a:p>
        </p:txBody>
      </p:sp>
      <p:sp>
        <p:nvSpPr>
          <p:cNvPr id="215" name="Text 6"/>
          <p:cNvSpPr txBox="1"/>
          <p:nvPr/>
        </p:nvSpPr>
        <p:spPr>
          <a:xfrm>
            <a:off x="6170652" y="7275790"/>
            <a:ext cx="6810425" cy="2876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400"/>
              </a:lnSpc>
              <a:defRPr sz="1500">
                <a:solidFill>
                  <a:srgbClr val="746558"/>
                </a:solidFill>
                <a:latin typeface="Gelasio"/>
                <a:ea typeface="Gelasio"/>
                <a:cs typeface="Gelasio"/>
                <a:sym typeface="Gelasio"/>
              </a:defRPr>
            </a:lvl1pPr>
          </a:lstStyle>
          <a:p>
            <a:pPr/>
            <a:r>
              <a:t>Установите последние обновления для оптимизации производительности.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Text 0"/>
          <p:cNvSpPr txBox="1"/>
          <p:nvPr/>
        </p:nvSpPr>
        <p:spPr>
          <a:xfrm>
            <a:off x="793790" y="1105376"/>
            <a:ext cx="13042822" cy="6873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5500"/>
              </a:lnSpc>
              <a:defRPr sz="4400">
                <a:solidFill>
                  <a:srgbClr val="484237"/>
                </a:solidFill>
                <a:latin typeface="Gelasio Semi Bold"/>
                <a:ea typeface="Gelasio Semi Bold"/>
                <a:cs typeface="Gelasio Semi Bold"/>
                <a:sym typeface="Gelasio Semi Bold"/>
              </a:defRPr>
            </a:lvl1pPr>
          </a:lstStyle>
          <a:p>
            <a:pPr/>
            <a:r>
              <a:t>Влияние препятствий на качество Wi-Fi-сигнала</a:t>
            </a:r>
          </a:p>
        </p:txBody>
      </p:sp>
      <p:sp>
        <p:nvSpPr>
          <p:cNvPr id="218" name="Shape 1"/>
          <p:cNvSpPr/>
          <p:nvPr/>
        </p:nvSpPr>
        <p:spPr>
          <a:xfrm>
            <a:off x="793790" y="2976563"/>
            <a:ext cx="2173724" cy="1306950"/>
          </a:xfrm>
          <a:prstGeom prst="roundRect">
            <a:avLst>
              <a:gd name="adj" fmla="val 2603"/>
            </a:avLst>
          </a:prstGeom>
          <a:solidFill>
            <a:srgbClr val="EEE8DD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19" name="Text 2"/>
          <p:cNvSpPr txBox="1"/>
          <p:nvPr/>
        </p:nvSpPr>
        <p:spPr>
          <a:xfrm>
            <a:off x="1003412" y="3403282"/>
            <a:ext cx="168090" cy="4198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lnSpc>
                <a:spcPts val="3500"/>
              </a:lnSpc>
              <a:defRPr sz="2200">
                <a:solidFill>
                  <a:srgbClr val="746558"/>
                </a:solidFill>
                <a:latin typeface="Gelasio Semi Bold"/>
                <a:ea typeface="Gelasio Semi Bold"/>
                <a:cs typeface="Gelasio Semi Bold"/>
                <a:sym typeface="Gelasio Semi Bold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220" name="Text 3"/>
          <p:cNvSpPr txBox="1"/>
          <p:nvPr/>
        </p:nvSpPr>
        <p:spPr>
          <a:xfrm>
            <a:off x="3194328" y="3203376"/>
            <a:ext cx="866726" cy="3385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700"/>
              </a:lnSpc>
              <a:defRPr sz="2200">
                <a:solidFill>
                  <a:srgbClr val="746558"/>
                </a:solidFill>
                <a:latin typeface="Gelasio Semi Bold"/>
                <a:ea typeface="Gelasio Semi Bold"/>
                <a:cs typeface="Gelasio Semi Bold"/>
                <a:sym typeface="Gelasio Semi Bold"/>
              </a:defRPr>
            </a:lvl1pPr>
          </a:lstStyle>
          <a:p>
            <a:pPr/>
            <a:r>
              <a:t>Стены</a:t>
            </a:r>
          </a:p>
        </p:txBody>
      </p:sp>
      <p:sp>
        <p:nvSpPr>
          <p:cNvPr id="221" name="Text 4"/>
          <p:cNvSpPr txBox="1"/>
          <p:nvPr/>
        </p:nvSpPr>
        <p:spPr>
          <a:xfrm>
            <a:off x="3194328" y="3693795"/>
            <a:ext cx="3476483" cy="3341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800"/>
              </a:lnSpc>
              <a:defRPr sz="1700">
                <a:solidFill>
                  <a:srgbClr val="746558"/>
                </a:solidFill>
                <a:latin typeface="Gelasio"/>
                <a:ea typeface="Gelasio"/>
                <a:cs typeface="Gelasio"/>
                <a:sym typeface="Gelasio"/>
              </a:defRPr>
            </a:lvl1pPr>
          </a:lstStyle>
          <a:p>
            <a:pPr/>
            <a:r>
              <a:t>Стена снижает сигнал на 30-50%.</a:t>
            </a:r>
          </a:p>
        </p:txBody>
      </p:sp>
      <p:sp>
        <p:nvSpPr>
          <p:cNvPr id="222" name="Shape 5"/>
          <p:cNvSpPr/>
          <p:nvPr/>
        </p:nvSpPr>
        <p:spPr>
          <a:xfrm>
            <a:off x="3080860" y="4268272"/>
            <a:ext cx="10642404" cy="15241"/>
          </a:xfrm>
          <a:prstGeom prst="roundRect">
            <a:avLst>
              <a:gd name="adj" fmla="val 50000"/>
            </a:avLst>
          </a:prstGeom>
          <a:solidFill>
            <a:srgbClr val="D4CEC3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23" name="Shape 6"/>
          <p:cNvSpPr/>
          <p:nvPr/>
        </p:nvSpPr>
        <p:spPr>
          <a:xfrm>
            <a:off x="793790" y="4396859"/>
            <a:ext cx="4347568" cy="1306950"/>
          </a:xfrm>
          <a:prstGeom prst="roundRect">
            <a:avLst>
              <a:gd name="adj" fmla="val 2603"/>
            </a:avLst>
          </a:prstGeom>
          <a:solidFill>
            <a:srgbClr val="EEE8DD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24" name="Text 7"/>
          <p:cNvSpPr txBox="1"/>
          <p:nvPr/>
        </p:nvSpPr>
        <p:spPr>
          <a:xfrm>
            <a:off x="1022462" y="4823578"/>
            <a:ext cx="168090" cy="4198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lnSpc>
                <a:spcPts val="3500"/>
              </a:lnSpc>
              <a:defRPr sz="2200">
                <a:solidFill>
                  <a:srgbClr val="746558"/>
                </a:solidFill>
                <a:latin typeface="Gelasio Semi Bold"/>
                <a:ea typeface="Gelasio Semi Bold"/>
                <a:cs typeface="Gelasio Semi Bold"/>
                <a:sym typeface="Gelasio Semi Bold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225" name="Text 8"/>
          <p:cNvSpPr txBox="1"/>
          <p:nvPr/>
        </p:nvSpPr>
        <p:spPr>
          <a:xfrm>
            <a:off x="5368171" y="4623672"/>
            <a:ext cx="1016794" cy="3385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700"/>
              </a:lnSpc>
              <a:defRPr sz="2200">
                <a:solidFill>
                  <a:srgbClr val="746558"/>
                </a:solidFill>
                <a:latin typeface="Gelasio Semi Bold"/>
                <a:ea typeface="Gelasio Semi Bold"/>
                <a:cs typeface="Gelasio Semi Bold"/>
                <a:sym typeface="Gelasio Semi Bold"/>
              </a:defRPr>
            </a:lvl1pPr>
          </a:lstStyle>
          <a:p>
            <a:pPr/>
            <a:r>
              <a:t>Металл</a:t>
            </a:r>
          </a:p>
        </p:txBody>
      </p:sp>
      <p:sp>
        <p:nvSpPr>
          <p:cNvPr id="226" name="Text 9"/>
          <p:cNvSpPr txBox="1"/>
          <p:nvPr/>
        </p:nvSpPr>
        <p:spPr>
          <a:xfrm>
            <a:off x="5368171" y="5114092"/>
            <a:ext cx="3929789" cy="3341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800"/>
              </a:lnSpc>
              <a:defRPr sz="1700">
                <a:solidFill>
                  <a:srgbClr val="746558"/>
                </a:solidFill>
                <a:latin typeface="Gelasio"/>
                <a:ea typeface="Gelasio"/>
                <a:cs typeface="Gelasio"/>
                <a:sym typeface="Gelasio"/>
              </a:defRPr>
            </a:lvl1pPr>
          </a:lstStyle>
          <a:p>
            <a:pPr/>
            <a:r>
              <a:t>Металл блокирует сигнал, как и вода.</a:t>
            </a:r>
          </a:p>
        </p:txBody>
      </p:sp>
      <p:sp>
        <p:nvSpPr>
          <p:cNvPr id="227" name="Shape 10"/>
          <p:cNvSpPr/>
          <p:nvPr/>
        </p:nvSpPr>
        <p:spPr>
          <a:xfrm>
            <a:off x="5254704" y="5688567"/>
            <a:ext cx="8468559" cy="15241"/>
          </a:xfrm>
          <a:prstGeom prst="roundRect">
            <a:avLst>
              <a:gd name="adj" fmla="val 50000"/>
            </a:avLst>
          </a:prstGeom>
          <a:solidFill>
            <a:srgbClr val="D4CEC3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28" name="Shape 11"/>
          <p:cNvSpPr/>
          <p:nvPr/>
        </p:nvSpPr>
        <p:spPr>
          <a:xfrm>
            <a:off x="793790" y="5817156"/>
            <a:ext cx="6521410" cy="1306950"/>
          </a:xfrm>
          <a:prstGeom prst="roundRect">
            <a:avLst>
              <a:gd name="adj" fmla="val 2603"/>
            </a:avLst>
          </a:prstGeom>
          <a:solidFill>
            <a:srgbClr val="EEE8DD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29" name="Text 12"/>
          <p:cNvSpPr txBox="1"/>
          <p:nvPr/>
        </p:nvSpPr>
        <p:spPr>
          <a:xfrm>
            <a:off x="1021987" y="6243875"/>
            <a:ext cx="168090" cy="4198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lnSpc>
                <a:spcPts val="3500"/>
              </a:lnSpc>
              <a:defRPr sz="2200">
                <a:solidFill>
                  <a:srgbClr val="746558"/>
                </a:solidFill>
                <a:latin typeface="Gelasio Semi Bold"/>
                <a:ea typeface="Gelasio Semi Bold"/>
                <a:cs typeface="Gelasio Semi Bold"/>
                <a:sym typeface="Gelasio Semi Bold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230" name="Text 13"/>
          <p:cNvSpPr txBox="1"/>
          <p:nvPr/>
        </p:nvSpPr>
        <p:spPr>
          <a:xfrm>
            <a:off x="7542014" y="6043969"/>
            <a:ext cx="803561" cy="3385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700"/>
              </a:lnSpc>
              <a:defRPr sz="2200">
                <a:solidFill>
                  <a:srgbClr val="746558"/>
                </a:solidFill>
                <a:latin typeface="Gelasio Semi Bold"/>
                <a:ea typeface="Gelasio Semi Bold"/>
                <a:cs typeface="Gelasio Semi Bold"/>
                <a:sym typeface="Gelasio Semi Bold"/>
              </a:defRPr>
            </a:lvl1pPr>
          </a:lstStyle>
          <a:p>
            <a:pPr/>
            <a:r>
              <a:t>Бетон</a:t>
            </a:r>
          </a:p>
        </p:txBody>
      </p:sp>
      <p:sp>
        <p:nvSpPr>
          <p:cNvPr id="231" name="Text 14"/>
          <p:cNvSpPr txBox="1"/>
          <p:nvPr/>
        </p:nvSpPr>
        <p:spPr>
          <a:xfrm>
            <a:off x="7542014" y="6534387"/>
            <a:ext cx="3811613" cy="3341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800"/>
              </a:lnSpc>
              <a:defRPr sz="1700">
                <a:solidFill>
                  <a:srgbClr val="746558"/>
                </a:solidFill>
                <a:latin typeface="Gelasio"/>
                <a:ea typeface="Gelasio"/>
                <a:cs typeface="Gelasio"/>
                <a:sym typeface="Gelasio"/>
              </a:defRPr>
            </a:lvl1pPr>
          </a:lstStyle>
          <a:p>
            <a:pPr/>
            <a:r>
              <a:t>Бетон также ослабляет Wi-Fi сигнал.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3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  <a:ln w="12700">
            <a:miter lim="400000"/>
          </a:ln>
        </p:spPr>
      </p:pic>
      <p:sp>
        <p:nvSpPr>
          <p:cNvPr id="234" name="Text 0"/>
          <p:cNvSpPr txBox="1"/>
          <p:nvPr/>
        </p:nvSpPr>
        <p:spPr>
          <a:xfrm>
            <a:off x="630554" y="495538"/>
            <a:ext cx="7882892" cy="11080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4400"/>
              </a:lnSpc>
              <a:defRPr sz="3500">
                <a:solidFill>
                  <a:srgbClr val="484237"/>
                </a:solidFill>
                <a:latin typeface="Gelasio Semi Bold"/>
                <a:ea typeface="Gelasio Semi Bold"/>
                <a:cs typeface="Gelasio Semi Bold"/>
                <a:sym typeface="Gelasio Semi Bold"/>
              </a:defRPr>
            </a:lvl1pPr>
          </a:lstStyle>
          <a:p>
            <a:pPr/>
            <a:r>
              <a:t>Тенденции развития и перспективы Wi-Fi</a:t>
            </a:r>
          </a:p>
        </p:txBody>
      </p:sp>
      <p:sp>
        <p:nvSpPr>
          <p:cNvPr id="235" name="Text 1"/>
          <p:cNvSpPr txBox="1"/>
          <p:nvPr/>
        </p:nvSpPr>
        <p:spPr>
          <a:xfrm>
            <a:off x="4403197" y="1981556"/>
            <a:ext cx="337606" cy="6017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lnSpc>
                <a:spcPts val="4600"/>
              </a:lnSpc>
              <a:defRPr sz="4600">
                <a:solidFill>
                  <a:srgbClr val="746558"/>
                </a:solidFill>
                <a:latin typeface="Gelasio Semi Bold"/>
                <a:ea typeface="Gelasio Semi Bold"/>
                <a:cs typeface="Gelasio Semi Bold"/>
                <a:sym typeface="Gelasio Semi Bold"/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236" name="Text 2"/>
          <p:cNvSpPr txBox="1"/>
          <p:nvPr/>
        </p:nvSpPr>
        <p:spPr>
          <a:xfrm>
            <a:off x="4259662" y="2801063"/>
            <a:ext cx="624558" cy="2731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lnSpc>
                <a:spcPts val="2200"/>
              </a:lnSpc>
              <a:defRPr sz="1700">
                <a:solidFill>
                  <a:srgbClr val="746558"/>
                </a:solidFill>
                <a:latin typeface="Gelasio Semi Bold"/>
                <a:ea typeface="Gelasio Semi Bold"/>
                <a:cs typeface="Gelasio Semi Bold"/>
                <a:sym typeface="Gelasio Semi Bold"/>
              </a:defRPr>
            </a:lvl1pPr>
          </a:lstStyle>
          <a:p>
            <a:pPr/>
            <a:r>
              <a:t>6 GHz</a:t>
            </a:r>
          </a:p>
        </p:txBody>
      </p:sp>
      <p:sp>
        <p:nvSpPr>
          <p:cNvPr id="237" name="Text 3"/>
          <p:cNvSpPr txBox="1"/>
          <p:nvPr/>
        </p:nvSpPr>
        <p:spPr>
          <a:xfrm>
            <a:off x="2450845" y="3190637"/>
            <a:ext cx="4242310" cy="2644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lnSpc>
                <a:spcPts val="2200"/>
              </a:lnSpc>
              <a:defRPr sz="1400">
                <a:solidFill>
                  <a:srgbClr val="746558"/>
                </a:solidFill>
                <a:latin typeface="Gelasio"/>
                <a:ea typeface="Gelasio"/>
                <a:cs typeface="Gelasio"/>
                <a:sym typeface="Gelasio"/>
              </a:defRPr>
            </a:lvl1pPr>
          </a:lstStyle>
          <a:p>
            <a:pPr/>
            <a:r>
              <a:t>Новый частотный диапазон с высокой скоростью.</a:t>
            </a:r>
          </a:p>
        </p:txBody>
      </p:sp>
      <p:sp>
        <p:nvSpPr>
          <p:cNvPr id="238" name="Text 4"/>
          <p:cNvSpPr txBox="1"/>
          <p:nvPr/>
        </p:nvSpPr>
        <p:spPr>
          <a:xfrm>
            <a:off x="4240745" y="4109203"/>
            <a:ext cx="662510" cy="6017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lnSpc>
                <a:spcPts val="4600"/>
              </a:lnSpc>
              <a:defRPr sz="4600">
                <a:solidFill>
                  <a:srgbClr val="746558"/>
                </a:solidFill>
                <a:latin typeface="Gelasio Semi Bold"/>
                <a:ea typeface="Gelasio Semi Bold"/>
                <a:cs typeface="Gelasio Semi Bold"/>
                <a:sym typeface="Gelasio Semi Bold"/>
              </a:defRPr>
            </a:lvl1pPr>
          </a:lstStyle>
          <a:p>
            <a:pPr/>
            <a:r>
              <a:t>10</a:t>
            </a:r>
          </a:p>
        </p:txBody>
      </p:sp>
      <p:sp>
        <p:nvSpPr>
          <p:cNvPr id="239" name="Text 5"/>
          <p:cNvSpPr txBox="1"/>
          <p:nvPr/>
        </p:nvSpPr>
        <p:spPr>
          <a:xfrm>
            <a:off x="4223819" y="4928711"/>
            <a:ext cx="696244" cy="2731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lnSpc>
                <a:spcPts val="2200"/>
              </a:lnSpc>
              <a:defRPr sz="1700">
                <a:solidFill>
                  <a:srgbClr val="746558"/>
                </a:solidFill>
                <a:latin typeface="Gelasio Semi Bold"/>
                <a:ea typeface="Gelasio Semi Bold"/>
                <a:cs typeface="Gelasio Semi Bold"/>
                <a:sym typeface="Gelasio Semi Bold"/>
              </a:defRPr>
            </a:lvl1pPr>
          </a:lstStyle>
          <a:p>
            <a:pPr/>
            <a:r>
              <a:t>Wi-Fi 7</a:t>
            </a:r>
          </a:p>
        </p:txBody>
      </p:sp>
      <p:sp>
        <p:nvSpPr>
          <p:cNvPr id="240" name="Text 6"/>
          <p:cNvSpPr txBox="1"/>
          <p:nvPr/>
        </p:nvSpPr>
        <p:spPr>
          <a:xfrm>
            <a:off x="1486749" y="5318283"/>
            <a:ext cx="6170502" cy="264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lnSpc>
                <a:spcPts val="2200"/>
              </a:lnSpc>
              <a:defRPr sz="1400">
                <a:solidFill>
                  <a:srgbClr val="746558"/>
                </a:solidFill>
                <a:latin typeface="Gelasio"/>
                <a:ea typeface="Gelasio"/>
                <a:cs typeface="Gelasio"/>
                <a:sym typeface="Gelasio"/>
              </a:defRPr>
            </a:lvl1pPr>
          </a:lstStyle>
          <a:p>
            <a:pPr/>
            <a:r>
              <a:t>Следующее поколение Wi-Fi с более высокой пропускной способностью.</a:t>
            </a:r>
          </a:p>
        </p:txBody>
      </p:sp>
      <p:sp>
        <p:nvSpPr>
          <p:cNvPr id="241" name="Text 7"/>
          <p:cNvSpPr txBox="1"/>
          <p:nvPr/>
        </p:nvSpPr>
        <p:spPr>
          <a:xfrm>
            <a:off x="4078293" y="6236851"/>
            <a:ext cx="987414" cy="6017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lnSpc>
                <a:spcPts val="4600"/>
              </a:lnSpc>
              <a:defRPr sz="4600">
                <a:solidFill>
                  <a:srgbClr val="746558"/>
                </a:solidFill>
                <a:latin typeface="Gelasio Semi Bold"/>
                <a:ea typeface="Gelasio Semi Bold"/>
                <a:cs typeface="Gelasio Semi Bold"/>
                <a:sym typeface="Gelasio Semi Bold"/>
              </a:defRPr>
            </a:lvl1pPr>
          </a:lstStyle>
          <a:p>
            <a:pPr/>
            <a:r>
              <a:t>100</a:t>
            </a:r>
          </a:p>
        </p:txBody>
      </p:sp>
      <p:sp>
        <p:nvSpPr>
          <p:cNvPr id="242" name="Text 8"/>
          <p:cNvSpPr txBox="1"/>
          <p:nvPr/>
        </p:nvSpPr>
        <p:spPr>
          <a:xfrm>
            <a:off x="4409621" y="7056357"/>
            <a:ext cx="324639" cy="2731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lnSpc>
                <a:spcPts val="2200"/>
              </a:lnSpc>
              <a:defRPr sz="1700">
                <a:solidFill>
                  <a:srgbClr val="746558"/>
                </a:solidFill>
                <a:latin typeface="Gelasio Semi Bold"/>
                <a:ea typeface="Gelasio Semi Bold"/>
                <a:cs typeface="Gelasio Semi Bold"/>
                <a:sym typeface="Gelasio Semi Bold"/>
              </a:defRPr>
            </a:lvl1pPr>
          </a:lstStyle>
          <a:p>
            <a:pPr/>
            <a:r>
              <a:t>IoT</a:t>
            </a:r>
          </a:p>
        </p:txBody>
      </p:sp>
      <p:sp>
        <p:nvSpPr>
          <p:cNvPr id="243" name="Text 9"/>
          <p:cNvSpPr txBox="1"/>
          <p:nvPr/>
        </p:nvSpPr>
        <p:spPr>
          <a:xfrm>
            <a:off x="1933636" y="7445930"/>
            <a:ext cx="5276727" cy="264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lnSpc>
                <a:spcPts val="2200"/>
              </a:lnSpc>
              <a:defRPr sz="1400">
                <a:solidFill>
                  <a:srgbClr val="746558"/>
                </a:solidFill>
                <a:latin typeface="Gelasio"/>
                <a:ea typeface="Gelasio"/>
                <a:cs typeface="Gelasio"/>
                <a:sym typeface="Gelasio"/>
              </a:defRPr>
            </a:lvl1pPr>
          </a:lstStyle>
          <a:p>
            <a:pPr/>
            <a:r>
              <a:t>Wi-Fi будет играть важную роль в развитии Интернета вещей.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000000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